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1B3F03-B2AE-44B6-9955-E2113D699F48}">
  <a:tblStyle styleId="{051B3F03-B2AE-44B6-9955-E2113D699F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RobotoMono-bold.fntdata"/><Relationship Id="rId10" Type="http://schemas.openxmlformats.org/officeDocument/2006/relationships/slide" Target="slides/slide4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6.xml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c731d603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c731d603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c731d6032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c731d603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c731d6032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c731d6032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c731d6032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3c731d6032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c731d6032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c731d6032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3405d8b1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3405d8b1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3405d8b1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3405d8b1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3405d8b1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3405d8b1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c731d6032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c731d6032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c731d6032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c731d6032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c731d6032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c731d6032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c731d6032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c731d6032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c731d6032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c731d6032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969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959650" y="-150242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DATE 12/10/2024</a:t>
            </a:r>
            <a:endParaRPr sz="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41200" y="-173850"/>
            <a:ext cx="4330800" cy="44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IWERC’S </a:t>
            </a:r>
            <a:r>
              <a:rPr b="1" lang="en" sz="5800">
                <a:latin typeface="Roboto Mono"/>
                <a:ea typeface="Roboto Mono"/>
                <a:cs typeface="Roboto Mono"/>
                <a:sym typeface="Roboto Mono"/>
              </a:rPr>
              <a:t>Marketing</a:t>
            </a:r>
            <a:endParaRPr b="1" sz="5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latin typeface="Roboto Mono"/>
                <a:ea typeface="Roboto Mono"/>
                <a:cs typeface="Roboto Mono"/>
                <a:sym typeface="Roboto Mono"/>
              </a:rPr>
              <a:t>Campaign </a:t>
            </a:r>
            <a:endParaRPr b="1" sz="5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Kaixi Zhu</a:t>
            </a:r>
            <a:endParaRPr sz="1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3900" y="1528325"/>
            <a:ext cx="4526594" cy="195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9696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93450" y="1186875"/>
            <a:ext cx="8520600" cy="27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800">
                <a:latin typeface="Roboto Mono"/>
                <a:ea typeface="Roboto Mono"/>
                <a:cs typeface="Roboto Mono"/>
                <a:sym typeface="Roboto Mono"/>
              </a:rPr>
              <a:t>Shaping the Future:</a:t>
            </a:r>
            <a:endParaRPr b="1" sz="3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800">
                <a:latin typeface="Roboto Mono"/>
                <a:ea typeface="Roboto Mono"/>
                <a:cs typeface="Roboto Mono"/>
                <a:sym typeface="Roboto Mono"/>
              </a:rPr>
              <a:t>Research in Education &amp; Workforce</a:t>
            </a:r>
            <a:endParaRPr b="1" sz="38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C64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87900" y="1491500"/>
            <a:ext cx="8520600" cy="42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F9FBFD"/>
              </a:buClr>
              <a:buSzPts val="2100"/>
              <a:buFont typeface="Roboto Mono"/>
              <a:buAutoNum type="arabicPeriod"/>
            </a:pPr>
            <a:r>
              <a:rPr b="1" lang="en" sz="2100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Increase the impact of IWERC and make its research findings more accessible to policy makers, academic institutions and businesses.</a:t>
            </a:r>
            <a:endParaRPr b="1" sz="2100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F9FBFD"/>
              </a:buClr>
              <a:buSzPts val="2100"/>
              <a:buFont typeface="Roboto Mono"/>
              <a:buAutoNum type="arabicPeriod"/>
            </a:pPr>
            <a:r>
              <a:rPr b="1" lang="en" sz="2100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Strengthen industry cooperation and attract the attention of government agencies, educational organizations and enterprises.</a:t>
            </a:r>
            <a:endParaRPr b="1" sz="2100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F9FBFD"/>
              </a:buClr>
              <a:buSzPts val="2100"/>
              <a:buFont typeface="Roboto Mono"/>
              <a:buAutoNum type="arabicPeriod"/>
            </a:pPr>
            <a:r>
              <a:rPr b="1" lang="en" sz="2100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Raise public awareness of the practical implications of research for students and job seekers, and promote the research results.</a:t>
            </a:r>
            <a:endParaRPr b="1" sz="2100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574925" y="276100"/>
            <a:ext cx="29247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Goals</a:t>
            </a:r>
            <a:endParaRPr b="1" sz="25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C6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347675" y="82275"/>
            <a:ext cx="3599400" cy="19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Online Promotion:       </a:t>
            </a:r>
            <a:endParaRPr b="1" sz="25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Reels/TikTok</a:t>
            </a:r>
            <a:b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/Blue</a:t>
            </a: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ky</a:t>
            </a:r>
            <a:endParaRPr b="1" sz="25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1263" y="529250"/>
            <a:ext cx="3322734" cy="16841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347675" y="2587550"/>
            <a:ext cx="4224300" cy="19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Off</a:t>
            </a: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line Promotion: </a:t>
            </a: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University Cooperation Forum</a:t>
            </a:r>
            <a:endParaRPr b="1" sz="25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1685950" y="2347275"/>
            <a:ext cx="711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9FBFD"/>
                </a:solidFill>
              </a:rPr>
              <a:t>+</a:t>
            </a:r>
            <a:endParaRPr b="1" sz="4000">
              <a:solidFill>
                <a:srgbClr val="F9FBFD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5975" y="2452200"/>
            <a:ext cx="3031800" cy="268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2850" y="563934"/>
            <a:ext cx="1748425" cy="1614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C64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276125" y="132925"/>
            <a:ext cx="96324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Online Promotion: Short-form Videos (</a:t>
            </a:r>
            <a:r>
              <a:rPr b="1" lang="en" sz="2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Reels/TikTok)</a:t>
            </a:r>
            <a:endParaRPr b="1" sz="25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83" name="Google Shape;83;p17"/>
          <p:cNvGraphicFramePr/>
          <p:nvPr/>
        </p:nvGraphicFramePr>
        <p:xfrm>
          <a:off x="615050" y="1318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{051B3F03-B2AE-44B6-9955-E2113D699F48}</a:tableStyleId>
              </a:tblPr>
              <a:tblGrid>
                <a:gridCol w="3793350"/>
                <a:gridCol w="3793350"/>
              </a:tblGrid>
              <a:tr h="523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Area</a:t>
                      </a:r>
                      <a:endParaRPr b="1" sz="1500">
                        <a:solidFill>
                          <a:srgbClr val="F9FBF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Example Warm-up Video Content</a:t>
                      </a:r>
                      <a:endParaRPr b="1" sz="1500">
                        <a:solidFill>
                          <a:srgbClr val="F9FBF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Early Childhood Education   </a:t>
                      </a:r>
                      <a:endParaRPr b="1" sz="1500">
                        <a:solidFill>
                          <a:srgbClr val="F9FBF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"Why is preschool education so important?"</a:t>
                      </a:r>
                      <a:endParaRPr b="1" sz="1500">
                        <a:solidFill>
                          <a:srgbClr val="F9FBF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K-12 Education  </a:t>
                      </a:r>
                      <a:endParaRPr b="1" sz="1500">
                        <a:solidFill>
                          <a:srgbClr val="F9FBF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"Is your school an 'effective school'?"</a:t>
                      </a:r>
                      <a:endParaRPr b="1" sz="1500">
                        <a:solidFill>
                          <a:srgbClr val="F9FBF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Higher Education  </a:t>
                      </a:r>
                      <a:endParaRPr b="1" sz="1500">
                        <a:solidFill>
                          <a:srgbClr val="F9FBF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"What do Illinois college students care about the most?"</a:t>
                      </a:r>
                      <a:endParaRPr b="1" sz="1500">
                        <a:solidFill>
                          <a:srgbClr val="F9FBF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Workforce  </a:t>
                      </a:r>
                      <a:endParaRPr b="1" sz="1500">
                        <a:solidFill>
                          <a:srgbClr val="F9FBF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"Where are your future job opportunities?"</a:t>
                      </a:r>
                      <a:endParaRPr b="1" sz="1500">
                        <a:solidFill>
                          <a:srgbClr val="F9FBFD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C6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8"/>
          <p:cNvGraphicFramePr/>
          <p:nvPr/>
        </p:nvGraphicFramePr>
        <p:xfrm>
          <a:off x="723900" y="207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{051B3F03-B2AE-44B6-9955-E2113D699F48}</a:tableStyleId>
              </a:tblPr>
              <a:tblGrid>
                <a:gridCol w="3900700"/>
                <a:gridCol w="39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One week before 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Research highlights + warm-up video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During the event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</a:t>
                      </a:r>
                      <a:r>
                        <a:rPr b="1" lang="en" sz="18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haring research results + interviewing researchers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One week after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9FBFD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Summarize the impact</a:t>
                      </a:r>
                      <a:endParaRPr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9" name="Google Shape;89;p18"/>
          <p:cNvSpPr txBox="1"/>
          <p:nvPr/>
        </p:nvSpPr>
        <p:spPr>
          <a:xfrm>
            <a:off x="3220675" y="957525"/>
            <a:ext cx="29247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Time Schedule</a:t>
            </a:r>
            <a:endParaRPr b="1" sz="22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76125" y="132925"/>
            <a:ext cx="96324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Online Promotion: Short-form Videos (</a:t>
            </a:r>
            <a:r>
              <a:rPr b="1" lang="en" sz="2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Reels/TikTok)</a:t>
            </a:r>
            <a:endParaRPr b="1" sz="25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C64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4664025" y="970200"/>
            <a:ext cx="4607100" cy="3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" sz="1695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Purpose: To provide open discussion, enhance research credibility, and help connect policy makers, academics, and research institutions</a:t>
            </a:r>
            <a:endParaRPr b="1" sz="1695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b="1" sz="1695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b="1" lang="en" sz="1695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Strategy: 1.Short text + short video combination to explain the research with concise academic viewpoints </a:t>
            </a:r>
            <a:br>
              <a:rPr b="1" lang="en" sz="1695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695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2.Regular publication of IWERC research highlights to attract discussion</a:t>
            </a:r>
            <a:br>
              <a:rPr b="1" lang="en" sz="1695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695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3.Use Hashtags such as #IWERC</a:t>
            </a:r>
            <a:endParaRPr sz="1695"/>
          </a:p>
        </p:txBody>
      </p:sp>
      <p:sp>
        <p:nvSpPr>
          <p:cNvPr id="96" name="Google Shape;96;p19"/>
          <p:cNvSpPr txBox="1"/>
          <p:nvPr/>
        </p:nvSpPr>
        <p:spPr>
          <a:xfrm>
            <a:off x="408075" y="60350"/>
            <a:ext cx="96324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Online Promotion: Blue Sky</a:t>
            </a:r>
            <a:endParaRPr b="1" sz="25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427" y="1152475"/>
            <a:ext cx="4226174" cy="3636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C64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2344875" y="835500"/>
            <a:ext cx="6769500" cy="28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NowThis is an American media company that targets mobile users of major social media platforms such as Facebook, Twitter and Snapchat, covering politics, economics, technology and entertainment.</a:t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2450350" y="-51650"/>
            <a:ext cx="63336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The Success of NowThis </a:t>
            </a:r>
            <a:endParaRPr b="1" sz="25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875" y="684600"/>
            <a:ext cx="1830925" cy="183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468718" y="2870825"/>
            <a:ext cx="2946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They attracted viewers by producing short video news clips lasting 6 to 90 seconds, and the total number of views of the videos quickly grew to 1 billion.</a:t>
            </a:r>
            <a:b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2712" y="2474600"/>
            <a:ext cx="3778674" cy="249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C64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281025" y="1329325"/>
            <a:ext cx="3451200" cy="34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NowThis's case shows that a research institution or academic platform can achieve a significant increase in user size and engagement rates by focusing on short video content production and actively leveraging social media platforms. ​</a:t>
            </a:r>
            <a:endParaRPr sz="2100"/>
          </a:p>
        </p:txBody>
      </p:sp>
      <p:sp>
        <p:nvSpPr>
          <p:cNvPr id="112" name="Google Shape;112;p21"/>
          <p:cNvSpPr txBox="1"/>
          <p:nvPr/>
        </p:nvSpPr>
        <p:spPr>
          <a:xfrm>
            <a:off x="342375" y="0"/>
            <a:ext cx="96324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The Predicted Data after </a:t>
            </a: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Online Promotion</a:t>
            </a:r>
            <a:endParaRPr b="1" sz="25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23125"/>
            <a:ext cx="3733476" cy="43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C64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920300" y="1622850"/>
            <a:ext cx="767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Objective: To invite policy makers, education experts, and business representatives to discuss practical applications of research findings.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Time: </a:t>
            </a: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t will be held in target universities (such as UIUC, Northwestern </a:t>
            </a: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University</a:t>
            </a: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, University of Chicago, NIU) during the event after releasing the warm-up videos.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/>
        </p:nvSpPr>
        <p:spPr>
          <a:xfrm>
            <a:off x="61350" y="-378350"/>
            <a:ext cx="9561000" cy="11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Offline Promotion: University Cooperation Forum</a:t>
            </a:r>
            <a:endParaRPr b="1" sz="25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C64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674875" y="994475"/>
            <a:ext cx="767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115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   </a:t>
            </a:r>
            <a:r>
              <a:rPr b="1" lang="en" sz="7115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Forum Agenda</a:t>
            </a:r>
            <a:endParaRPr b="1" sz="7115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115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Theme</a:t>
            </a:r>
            <a:r>
              <a:rPr b="1" lang="en" sz="7115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7115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IWERC's research on university students and the labor market</a:t>
            </a:r>
            <a:endParaRPr b="1" sz="7115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7115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115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="1" lang="en" sz="7115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iscussion: Corporate HR and university professors are invited to discuss the implementation plan of research results</a:t>
            </a:r>
            <a:endParaRPr b="1" sz="7115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7115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115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b="1" lang="en" sz="7115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nteraction: </a:t>
            </a:r>
            <a:r>
              <a:rPr b="1" lang="en" sz="7115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Students are encouraged to participate in discussions and ask questions on the spot.</a:t>
            </a:r>
            <a:endParaRPr b="1" sz="7115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61350" y="-378350"/>
            <a:ext cx="9561000" cy="11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Offline Promotion: University Cooperation Forum</a:t>
            </a:r>
            <a:endParaRPr b="1" sz="25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C64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Key Measurement Indicators (KPI)</a:t>
            </a:r>
            <a:endParaRPr b="1" sz="25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418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 Online: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1.</a:t>
            </a: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Video views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2.Interaction rate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3.Usage of hashtag #IWERC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4728200" y="1152475"/>
            <a:ext cx="436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 Offline: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1.</a:t>
            </a: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Number of Forum participants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2.On-site student feedback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3.Follow-up contact and report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C64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Next Move</a:t>
            </a:r>
            <a:endParaRPr b="1" sz="25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✅ Contact</a:t>
            </a: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 target universities 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✅ Plan short video content 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✅ Invite guests &amp; determine the event agenda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9FBFD"/>
                </a:solidFill>
                <a:latin typeface="Roboto Mono"/>
                <a:ea typeface="Roboto Mono"/>
                <a:cs typeface="Roboto Mono"/>
                <a:sym typeface="Roboto Mono"/>
              </a:rPr>
              <a:t>✅ Work out a detailed implementation timetable</a:t>
            </a:r>
            <a:endParaRPr b="1">
              <a:solidFill>
                <a:srgbClr val="F9FB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9696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623400" y="163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Thank You</a:t>
            </a:r>
            <a:endParaRPr b="1" sz="100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