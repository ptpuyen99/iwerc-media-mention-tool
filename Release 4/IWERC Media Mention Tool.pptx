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5" name="Kaitlyn Pham"/>
  <p:cmAuthor clrIdx="1" id="1" initials="" lastIdx="1" name="Shih-Yi Chen (Edward)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3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5.xml"/><Relationship Id="rId44" Type="http://schemas.openxmlformats.org/officeDocument/2006/relationships/font" Target="fonts/InterMedium-regular.fntdata"/><Relationship Id="rId21" Type="http://schemas.openxmlformats.org/officeDocument/2006/relationships/slide" Target="slides/slide14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7.xml"/><Relationship Id="rId46" Type="http://schemas.openxmlformats.org/officeDocument/2006/relationships/font" Target="fonts/InterMedium-italic.fntdata"/><Relationship Id="rId23" Type="http://schemas.openxmlformats.org/officeDocument/2006/relationships/slide" Target="slides/slide16.xml"/><Relationship Id="rId45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InterMedium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bold.fntdata"/><Relationship Id="rId10" Type="http://schemas.openxmlformats.org/officeDocument/2006/relationships/slide" Target="slides/slide3.xml"/><Relationship Id="rId32" Type="http://schemas.openxmlformats.org/officeDocument/2006/relationships/font" Target="fonts/Roboto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-italic.fntdata"/><Relationship Id="rId15" Type="http://schemas.openxmlformats.org/officeDocument/2006/relationships/slide" Target="slides/slide8.xml"/><Relationship Id="rId37" Type="http://schemas.openxmlformats.org/officeDocument/2006/relationships/font" Target="fonts/Inter-bold.fntdata"/><Relationship Id="rId14" Type="http://schemas.openxmlformats.org/officeDocument/2006/relationships/slide" Target="slides/slide7.xml"/><Relationship Id="rId36" Type="http://schemas.openxmlformats.org/officeDocument/2006/relationships/font" Target="fonts/Inter-regular.fntdata"/><Relationship Id="rId17" Type="http://schemas.openxmlformats.org/officeDocument/2006/relationships/slide" Target="slides/slide10.xml"/><Relationship Id="rId39" Type="http://schemas.openxmlformats.org/officeDocument/2006/relationships/font" Target="fonts/Inter-boldItalic.fntdata"/><Relationship Id="rId16" Type="http://schemas.openxmlformats.org/officeDocument/2006/relationships/slide" Target="slides/slide9.xml"/><Relationship Id="rId38" Type="http://schemas.openxmlformats.org/officeDocument/2006/relationships/font" Target="fonts/Inter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1-30T22:32:18.834">
    <p:pos x="6000" y="0"/>
    <p:text>@kolleri2@illinois.edu
_Assigned to kolleri2@illinois.edu_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11-30T22:18:26.625">
    <p:pos x="6000" y="0"/>
    <p:text>@edwardchen29@gmail.com @shihyic2@illinois.edu
_Assigned to edwardchen29@gmail.com_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11-30T22:18:18.690">
    <p:pos x="6000" y="0"/>
    <p:text>@edwardchen29@gmail.com @shihyic2@illinois.edu
_Assigned to edwardchen29@gmail.com_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11-30T22:17:57.134">
    <p:pos x="6000" y="0"/>
    <p:text>@cassiez5699@gmail.com @kaixiz2@illinois.edu
_Assigned to cassiez5699@gmail.com_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11-30T22:18:11.337">
    <p:pos x="6000" y="0"/>
    <p:text>@cassiez5699@gmail.com @kaixiz2@illinois.edu
_Assigned to cassiez5699@gmail.com_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4-11-30T22:20:06.263">
    <p:pos x="6000" y="0"/>
    <p:text>@edwardchen29@gmail.com @shihyic2@illinois.edu
_Assigned to edwardchen29@gmail.com_</p:text>
  </p:cm>
  <p:cm authorId="0" idx="7" dt="2024-11-20T00:08:38.277">
    <p:pos x="6000" y="100"/>
    <p:text>Not sure about the specific process but is there a part of retrieving keywords?</p:text>
  </p:cm>
  <p:cm authorId="1" idx="1" dt="2024-11-19T23:47:21.211">
    <p:pos x="6000" y="100"/>
    <p:text>Yes or maybe can add another page to show snippets of code and the results ?</p:text>
  </p:cm>
  <p:cm authorId="0" idx="8" dt="2024-11-20T00:08:38.277">
    <p:pos x="6000" y="100"/>
    <p:text>If you're planning to include coding script, make sure to be ready to explain in business context in the presentation.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11-26T17:39:32.873">
    <p:pos x="6000" y="0"/>
    <p:text>@shihyic2@illinois.edu please keep the color/ font/ size consistent
_Assigned to shihyic2@illinois.edu_</p:text>
  </p:cm>
  <p:cm authorId="0" idx="10" dt="2024-11-30T22:53:59.375">
    <p:pos x="6000" y="100"/>
    <p:text>@edwardchen29@gmail.com @shihyic2@illinois.edu
1 total reaction
Shih-Yi Chen (Edward) reacted with 👌 at 2024-11-30 14:53 PM
_Assigned to edwardchen29@gmail.com_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11-26T17:29:37.136">
    <p:pos x="6000" y="0"/>
    <p:text>Please keep the font/ size consistent</p:text>
  </p:cm>
  <p:cm authorId="0" idx="12" dt="2024-11-30T22:20:25.952">
    <p:pos x="6000" y="100"/>
    <p:text>@shihyic2@illinois.edu @edwardchen29@gmail.com
_Assigned to shihyic2@illinois.edu_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4-11-30T22:20:51.273">
    <p:pos x="6000" y="0"/>
    <p:text>@kolleri2@illinois.edu
_Assigned to kolleri2@illinois.edu_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4-12-01T18:13:45.873">
    <p:pos x="6000" y="0"/>
    <p:text>@kolleri2@illinois.edu
_Assigned to kolleri2@illinois.edu_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4-11-30T22:21:20.330">
    <p:pos x="6000" y="0"/>
    <p:text>@kolleri2@illinois.edu
_Assigned to kolleri2@illinois.edu_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44570b770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44570b770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940294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1940294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7a58d09c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17a58d09c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7a58d09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7a58d09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7cf2325e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7cf2325e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18255fd0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18255fd0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7c53770a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7c53770a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144570b77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144570b77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144570b77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144570b77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144570b7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144570b7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7c31d0c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7c31d0c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7cf2325e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17cf2325e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1940294149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1940294149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1940294149_0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1940294149_0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17c53770a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17c53770a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144570b77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144570b77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17b2279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17b2279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Media Text Categorization Workflow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144570b77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144570b77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1b0b88c3d2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1b0b88c3d2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© Copyright </a:t>
            </a:r>
            <a:r>
              <a:rPr b="1" lang="en"/>
              <a:t>PresentationGO.com</a:t>
            </a:r>
            <a:r>
              <a:rPr lang="en"/>
              <a:t> – The free PowerPoint and Google Slides template library</a:t>
            </a:r>
            <a:endParaRPr/>
          </a:p>
        </p:txBody>
      </p:sp>
      <p:sp>
        <p:nvSpPr>
          <p:cNvPr id="483" name="Google Shape;483;g31b0b88c3d2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182a9323e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182a9323e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Media Text Categorization Workflow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1b0b88c3d2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1b0b88c3d2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© Copyright </a:t>
            </a:r>
            <a:r>
              <a:rPr b="1" lang="en"/>
              <a:t>PresentationGO.com</a:t>
            </a:r>
            <a:r>
              <a:rPr lang="en"/>
              <a:t> – The free PowerPoint and Google Slides template library</a:t>
            </a:r>
            <a:endParaRPr/>
          </a:p>
        </p:txBody>
      </p:sp>
      <p:sp>
        <p:nvSpPr>
          <p:cNvPr id="530" name="Google Shape;530;g31b0b88c3d2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144570b77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144570b77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1b0d9666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1b0d9666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144570b77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144570b77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20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2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2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2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5" name="Google Shape;105;p22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22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2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22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22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23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23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3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3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3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3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3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6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7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7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7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29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0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31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3" name="Google Shape;163;p31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31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3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1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31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1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1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1" name="Google Shape;171;p31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2" name="Google Shape;172;p31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1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31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5" name="Google Shape;175;p31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76" name="Google Shape;176;p31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1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31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32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32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89" name="Google Shape;189;p32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5" name="Google Shape;195;p33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3" name="Google Shape;203;p35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39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39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9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39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2" name="Google Shape;222;p39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2" name="Google Shape;232;p41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1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42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8" name="Google Shape;238;p42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9" name="Google Shape;239;p42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42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42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42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42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42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" name="Google Shape;247;p4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9" name="Google Shape;249;p43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50" name="Google Shape;250;p43"/>
          <p:cNvPicPr preferRelativeResize="0"/>
          <p:nvPr/>
        </p:nvPicPr>
        <p:blipFill rotWithShape="1">
          <a:blip r:embed="rId2">
            <a:alphaModFix/>
          </a:blip>
          <a:srcRect b="38736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44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56" name="Google Shape;256;p44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7" name="Google Shape;257;p44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44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45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5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45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5" name="Google Shape;265;p45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6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46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6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4" name="Google Shape;28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7" name="Google Shape;28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1" name="Google Shape;291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2" name="Google Shape;292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" name="Google Shape;29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1" name="Google Shape;301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2" name="Google Shape;302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8" name="Google Shape;308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0" name="Google Shape;31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3" name="Google Shape;313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4" name="Google Shape;314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3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3.xml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4.xml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6.xml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7.xml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8.xml"/><Relationship Id="rId4" Type="http://schemas.openxmlformats.org/officeDocument/2006/relationships/image" Target="../media/image33.png"/><Relationship Id="rId9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9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0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1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 11/12/2024</a:t>
            </a:r>
            <a:endParaRPr/>
          </a:p>
        </p:txBody>
      </p:sp>
      <p:sp>
        <p:nvSpPr>
          <p:cNvPr id="320" name="Google Shape;320;p54"/>
          <p:cNvSpPr txBox="1"/>
          <p:nvPr>
            <p:ph idx="4294967295" type="title"/>
          </p:nvPr>
        </p:nvSpPr>
        <p:spPr>
          <a:xfrm>
            <a:off x="226525" y="456275"/>
            <a:ext cx="3858000" cy="4373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IWERC’S Media Mention Tool</a:t>
            </a:r>
            <a:endParaRPr sz="8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Kaitlyn Pham - Shih-Yi Chen </a:t>
            </a:r>
            <a:endParaRPr b="0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Kaixi Zhu - Rashmika Kolleri</a:t>
            </a:r>
            <a:endParaRPr b="0" sz="1600"/>
          </a:p>
        </p:txBody>
      </p:sp>
      <p:pic>
        <p:nvPicPr>
          <p:cNvPr id="321" name="Google Shape;32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050" y="2878150"/>
            <a:ext cx="4526594" cy="19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013" y="456275"/>
            <a:ext cx="3366667" cy="20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D755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5"/>
          <p:cNvSpPr/>
          <p:nvPr/>
        </p:nvSpPr>
        <p:spPr>
          <a:xfrm>
            <a:off x="1735400" y="223725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B7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55"/>
          <p:cNvSpPr/>
          <p:nvPr/>
        </p:nvSpPr>
        <p:spPr>
          <a:xfrm>
            <a:off x="6594450" y="223725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E94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Q&amp;A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9" name="Google Shape;329;p55"/>
          <p:cNvGrpSpPr/>
          <p:nvPr/>
        </p:nvGrpSpPr>
        <p:grpSpPr>
          <a:xfrm>
            <a:off x="4998650" y="2237250"/>
            <a:ext cx="2064000" cy="2906250"/>
            <a:chOff x="5174650" y="1501375"/>
            <a:chExt cx="2064000" cy="2906250"/>
          </a:xfrm>
        </p:grpSpPr>
        <p:sp>
          <p:nvSpPr>
            <p:cNvPr id="330" name="Google Shape;330;p55"/>
            <p:cNvSpPr/>
            <p:nvPr/>
          </p:nvSpPr>
          <p:spPr>
            <a:xfrm>
              <a:off x="5174650" y="15013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0C81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Solution Highlights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1" name="Google Shape;331;p55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2" name="Google Shape;332;p55"/>
          <p:cNvSpPr/>
          <p:nvPr/>
        </p:nvSpPr>
        <p:spPr>
          <a:xfrm>
            <a:off x="3402850" y="2237250"/>
            <a:ext cx="2064000" cy="669000"/>
          </a:xfrm>
          <a:prstGeom prst="chevron">
            <a:avLst>
              <a:gd fmla="val 50000" name="adj"/>
            </a:avLst>
          </a:prstGeom>
          <a:solidFill>
            <a:srgbClr val="0B77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Key Data Categories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3" name="Google Shape;333;p55"/>
          <p:cNvGrpSpPr/>
          <p:nvPr/>
        </p:nvGrpSpPr>
        <p:grpSpPr>
          <a:xfrm>
            <a:off x="0" y="2237239"/>
            <a:ext cx="2214600" cy="3217636"/>
            <a:chOff x="-60650" y="1189989"/>
            <a:chExt cx="2214600" cy="3217636"/>
          </a:xfrm>
        </p:grpSpPr>
        <p:sp>
          <p:nvSpPr>
            <p:cNvPr id="334" name="Google Shape;334;p55"/>
            <p:cNvSpPr/>
            <p:nvPr/>
          </p:nvSpPr>
          <p:spPr>
            <a:xfrm>
              <a:off x="-6065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Challenges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" name="Google Shape;335;p55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</p:spPr>
      </p:sp>
      <p:sp>
        <p:nvSpPr>
          <p:cNvPr id="341" name="Google Shape;341;p56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</p:spPr>
      </p:sp>
      <p:sp>
        <p:nvSpPr>
          <p:cNvPr id="342" name="Google Shape;342;p56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6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44" name="Google Shape;344;p56"/>
          <p:cNvSpPr txBox="1"/>
          <p:nvPr>
            <p:ph idx="1" type="body"/>
          </p:nvPr>
        </p:nvSpPr>
        <p:spPr>
          <a:xfrm>
            <a:off x="156950" y="403395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IWERC (a division of DPI) focuses on advancing research, policy, and educational initiatives</a:t>
            </a:r>
            <a:endParaRPr sz="1200"/>
          </a:p>
        </p:txBody>
      </p:sp>
      <p:sp>
        <p:nvSpPr>
          <p:cNvPr id="345" name="Google Shape;345;p56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Challenges:</a:t>
            </a:r>
            <a:endParaRPr/>
          </a:p>
        </p:txBody>
      </p:sp>
      <p:sp>
        <p:nvSpPr>
          <p:cNvPr id="346" name="Google Shape;346;p56"/>
          <p:cNvSpPr txBox="1"/>
          <p:nvPr>
            <p:ph idx="4" type="body"/>
          </p:nvPr>
        </p:nvSpPr>
        <p:spPr>
          <a:xfrm>
            <a:off x="3212950" y="3984174"/>
            <a:ext cx="27267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Manually tracking mentioned data using spreadsheets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Positive </a:t>
            </a:r>
            <a:r>
              <a:rPr lang="en" sz="1200"/>
              <a:t>impacts are not visually represented on their website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6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</a:t>
            </a:r>
            <a:endParaRPr/>
          </a:p>
        </p:txBody>
      </p:sp>
      <p:sp>
        <p:nvSpPr>
          <p:cNvPr id="348" name="Google Shape;348;p56"/>
          <p:cNvSpPr txBox="1"/>
          <p:nvPr>
            <p:ph idx="6" type="body"/>
          </p:nvPr>
        </p:nvSpPr>
        <p:spPr>
          <a:xfrm>
            <a:off x="6260350" y="3984173"/>
            <a:ext cx="2726700" cy="10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Automated Data Extraction Tool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Internal Reporting Dashboard &amp;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Website Dashboard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6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</p:spPr>
      </p:sp>
      <p:pic>
        <p:nvPicPr>
          <p:cNvPr id="350" name="Google Shape;3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775" y="709575"/>
            <a:ext cx="3031800" cy="28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6"/>
          <p:cNvPicPr preferRelativeResize="0"/>
          <p:nvPr/>
        </p:nvPicPr>
        <p:blipFill rotWithShape="1">
          <a:blip r:embed="rId4">
            <a:alphaModFix/>
          </a:blip>
          <a:srcRect b="7903" l="23620" r="23620" t="5245"/>
          <a:stretch/>
        </p:blipFill>
        <p:spPr>
          <a:xfrm>
            <a:off x="6095975" y="709575"/>
            <a:ext cx="3031800" cy="280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709575"/>
            <a:ext cx="3031800" cy="28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7"/>
          <p:cNvSpPr txBox="1"/>
          <p:nvPr>
            <p:ph type="title"/>
          </p:nvPr>
        </p:nvSpPr>
        <p:spPr>
          <a:xfrm>
            <a:off x="226525" y="-229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Four </a:t>
            </a:r>
            <a:r>
              <a:rPr lang="en">
                <a:solidFill>
                  <a:srgbClr val="FFFFFF"/>
                </a:solidFill>
              </a:rPr>
              <a:t>Key Categories of Data Tracking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8" name="Google Shape;358;p57"/>
          <p:cNvSpPr txBox="1"/>
          <p:nvPr>
            <p:ph idx="6" type="subTitle"/>
          </p:nvPr>
        </p:nvSpPr>
        <p:spPr>
          <a:xfrm>
            <a:off x="836000" y="1085700"/>
            <a:ext cx="2073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b="1" lang="en" sz="1595">
                <a:solidFill>
                  <a:srgbClr val="FFFFFF"/>
                </a:solidFill>
              </a:rPr>
              <a:t>Publications</a:t>
            </a:r>
            <a:endParaRPr b="1" sz="1595">
              <a:solidFill>
                <a:srgbClr val="FFFFFF"/>
              </a:solidFill>
            </a:endParaRPr>
          </a:p>
        </p:txBody>
      </p:sp>
      <p:sp>
        <p:nvSpPr>
          <p:cNvPr id="359" name="Google Shape;359;p57"/>
          <p:cNvSpPr txBox="1"/>
          <p:nvPr>
            <p:ph idx="7" type="body"/>
          </p:nvPr>
        </p:nvSpPr>
        <p:spPr>
          <a:xfrm>
            <a:off x="4104168" y="1817988"/>
            <a:ext cx="4100100" cy="8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FFFFF"/>
                </a:solidFill>
              </a:rPr>
              <a:t>Details of presentations, including event name, date, location, presenter(s), audience size, and key topics.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360" name="Google Shape;360;p57"/>
          <p:cNvSpPr txBox="1"/>
          <p:nvPr>
            <p:ph idx="3" type="body"/>
          </p:nvPr>
        </p:nvSpPr>
        <p:spPr>
          <a:xfrm>
            <a:off x="4104168" y="4148575"/>
            <a:ext cx="4100100" cy="8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FFFFF"/>
                </a:solidFill>
              </a:rPr>
              <a:t>Metrics from social media platforms, including likes, shares, comments, and engagement rates, tied to specific posts or campaigns.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361" name="Google Shape;361;p57"/>
          <p:cNvSpPr txBox="1"/>
          <p:nvPr>
            <p:ph idx="4" type="subTitle"/>
          </p:nvPr>
        </p:nvSpPr>
        <p:spPr>
          <a:xfrm>
            <a:off x="4104168" y="2989200"/>
            <a:ext cx="41001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FFFFF"/>
                </a:solidFill>
              </a:rPr>
              <a:t>Records of when and where a topic, brand, or individual is mentioned across media outlets, including publication, date, mention context, and reach.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362" name="Google Shape;362;p57"/>
          <p:cNvSpPr txBox="1"/>
          <p:nvPr>
            <p:ph idx="8" type="subTitle"/>
          </p:nvPr>
        </p:nvSpPr>
        <p:spPr>
          <a:xfrm>
            <a:off x="4104176" y="932625"/>
            <a:ext cx="45450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Information about articles or reports published in various media sources, including title, publication date, author(s), source, and main topics covered.</a:t>
            </a:r>
            <a:endParaRPr sz="3300">
              <a:solidFill>
                <a:srgbClr val="FFFFFF"/>
              </a:solidFill>
            </a:endParaRPr>
          </a:p>
        </p:txBody>
      </p:sp>
      <p:sp>
        <p:nvSpPr>
          <p:cNvPr id="363" name="Google Shape;363;p57"/>
          <p:cNvSpPr txBox="1"/>
          <p:nvPr>
            <p:ph idx="6" type="subTitle"/>
          </p:nvPr>
        </p:nvSpPr>
        <p:spPr>
          <a:xfrm>
            <a:off x="836000" y="2037450"/>
            <a:ext cx="2073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b="1" lang="en" sz="1595">
                <a:solidFill>
                  <a:srgbClr val="FFFFFF"/>
                </a:solidFill>
              </a:rPr>
              <a:t>Presentations</a:t>
            </a:r>
            <a:endParaRPr b="1" sz="1595">
              <a:solidFill>
                <a:srgbClr val="FFFFFF"/>
              </a:solidFill>
            </a:endParaRPr>
          </a:p>
        </p:txBody>
      </p:sp>
      <p:sp>
        <p:nvSpPr>
          <p:cNvPr id="364" name="Google Shape;364;p57"/>
          <p:cNvSpPr txBox="1"/>
          <p:nvPr>
            <p:ph idx="6" type="subTitle"/>
          </p:nvPr>
        </p:nvSpPr>
        <p:spPr>
          <a:xfrm>
            <a:off x="836000" y="3202750"/>
            <a:ext cx="2073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b="1" lang="en" sz="1595">
                <a:solidFill>
                  <a:srgbClr val="FFFFFF"/>
                </a:solidFill>
              </a:rPr>
              <a:t>Media Mentions</a:t>
            </a:r>
            <a:endParaRPr b="1" sz="1595">
              <a:solidFill>
                <a:srgbClr val="FFFFFF"/>
              </a:solidFill>
            </a:endParaRPr>
          </a:p>
        </p:txBody>
      </p:sp>
      <p:sp>
        <p:nvSpPr>
          <p:cNvPr id="365" name="Google Shape;365;p57"/>
          <p:cNvSpPr txBox="1"/>
          <p:nvPr>
            <p:ph idx="6" type="subTitle"/>
          </p:nvPr>
        </p:nvSpPr>
        <p:spPr>
          <a:xfrm>
            <a:off x="836000" y="4368000"/>
            <a:ext cx="28815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b="1" lang="en" sz="1595">
                <a:solidFill>
                  <a:srgbClr val="FFFFFF"/>
                </a:solidFill>
              </a:rPr>
              <a:t>Social Media Interactions</a:t>
            </a:r>
            <a:endParaRPr b="1" sz="159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 txBox="1"/>
          <p:nvPr>
            <p:ph type="title"/>
          </p:nvPr>
        </p:nvSpPr>
        <p:spPr>
          <a:xfrm>
            <a:off x="285600" y="2290425"/>
            <a:ext cx="64752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tracking </a:t>
            </a:r>
            <a:r>
              <a:rPr lang="en" sz="4500"/>
              <a:t>issues</a:t>
            </a:r>
            <a:endParaRPr sz="4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"/>
          <p:cNvSpPr txBox="1"/>
          <p:nvPr/>
        </p:nvSpPr>
        <p:spPr>
          <a:xfrm>
            <a:off x="242100" y="2117925"/>
            <a:ext cx="3918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existing publication tracking process is overly simple and lacks comprehensive detail.</a:t>
            </a:r>
            <a:endParaRPr sz="13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current website does not effectively convey the significance and impact of IWERC’s publications and research.</a:t>
            </a:r>
            <a:endParaRPr/>
          </a:p>
        </p:txBody>
      </p:sp>
      <p:sp>
        <p:nvSpPr>
          <p:cNvPr id="376" name="Google Shape;376;p59"/>
          <p:cNvSpPr txBox="1"/>
          <p:nvPr/>
        </p:nvSpPr>
        <p:spPr>
          <a:xfrm>
            <a:off x="242100" y="1564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Publications</a:t>
            </a:r>
            <a:endParaRPr/>
          </a:p>
        </p:txBody>
      </p:sp>
      <p:pic>
        <p:nvPicPr>
          <p:cNvPr id="377" name="Google Shape;37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450" y="461063"/>
            <a:ext cx="3000001" cy="4221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 txBox="1"/>
          <p:nvPr>
            <p:ph type="title"/>
          </p:nvPr>
        </p:nvSpPr>
        <p:spPr>
          <a:xfrm>
            <a:off x="226525" y="1536775"/>
            <a:ext cx="29808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Presentations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3" name="Google Shape;383;p60"/>
          <p:cNvSpPr txBox="1"/>
          <p:nvPr>
            <p:ph idx="5" type="body"/>
          </p:nvPr>
        </p:nvSpPr>
        <p:spPr>
          <a:xfrm>
            <a:off x="226525" y="2284400"/>
            <a:ext cx="4179000" cy="21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Currently, IWERC is tracking presentation data manually through Excel, which results in disorganized and inconsistent data. This makes it difficult to analyze trends and track performance.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The current tracking does not effectively convey the significance of IWERC’s presentations or their impact.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</p:txBody>
      </p:sp>
      <p:pic>
        <p:nvPicPr>
          <p:cNvPr id="384" name="Google Shape;384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525" y="1737250"/>
            <a:ext cx="4504176" cy="19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"/>
          <p:cNvSpPr txBox="1"/>
          <p:nvPr>
            <p:ph type="title"/>
          </p:nvPr>
        </p:nvSpPr>
        <p:spPr>
          <a:xfrm>
            <a:off x="311700" y="24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 Mentions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0" name="Google Shape;39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00" y="999694"/>
            <a:ext cx="3247649" cy="8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896" y="1278451"/>
            <a:ext cx="4919299" cy="233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9513" y="730480"/>
            <a:ext cx="3419775" cy="162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0200" y="1629160"/>
            <a:ext cx="3247651" cy="132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39750" y="2919448"/>
            <a:ext cx="4919301" cy="1913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6111" y="3181175"/>
            <a:ext cx="4144824" cy="15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/>
          <p:nvPr>
            <p:ph type="title"/>
          </p:nvPr>
        </p:nvSpPr>
        <p:spPr>
          <a:xfrm>
            <a:off x="243300" y="1518550"/>
            <a:ext cx="29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2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 Mentions</a:t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402" name="Google Shape;402;p62"/>
          <p:cNvSpPr txBox="1"/>
          <p:nvPr/>
        </p:nvSpPr>
        <p:spPr>
          <a:xfrm>
            <a:off x="243300" y="2151775"/>
            <a:ext cx="38262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Media mentions come from various sources, making them difficult to track and insufficient for providing clear insights into IWERC’s work. 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Media mention records require manual updates and online tracking, which takes time and effort to verify across multiple sources.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3" name="Google Shape;40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625" y="990163"/>
            <a:ext cx="4579274" cy="316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3"/>
          <p:cNvSpPr txBox="1"/>
          <p:nvPr>
            <p:ph idx="1" type="body"/>
          </p:nvPr>
        </p:nvSpPr>
        <p:spPr>
          <a:xfrm>
            <a:off x="1549650" y="3925175"/>
            <a:ext cx="12276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Linkedin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09" name="Google Shape;409;p63"/>
          <p:cNvPicPr preferRelativeResize="0"/>
          <p:nvPr/>
        </p:nvPicPr>
        <p:blipFill rotWithShape="1">
          <a:blip r:embed="rId4">
            <a:alphaModFix/>
          </a:blip>
          <a:srcRect b="0" l="0" r="0" t="8717"/>
          <a:stretch/>
        </p:blipFill>
        <p:spPr>
          <a:xfrm>
            <a:off x="433025" y="919325"/>
            <a:ext cx="346084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63"/>
          <p:cNvSpPr txBox="1"/>
          <p:nvPr>
            <p:ph type="title"/>
          </p:nvPr>
        </p:nvSpPr>
        <p:spPr>
          <a:xfrm>
            <a:off x="3266300" y="238624"/>
            <a:ext cx="4119000" cy="8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Social Media</a:t>
            </a:r>
            <a:endParaRPr b="1" sz="25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11" name="Google Shape;41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0725" y="915550"/>
            <a:ext cx="2974149" cy="278734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3"/>
          <p:cNvSpPr txBox="1"/>
          <p:nvPr>
            <p:ph idx="1" type="body"/>
          </p:nvPr>
        </p:nvSpPr>
        <p:spPr>
          <a:xfrm>
            <a:off x="6554650" y="3925175"/>
            <a:ext cx="4263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endParaRPr b="1"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13" name="Google Shape;413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1475" y="4306402"/>
            <a:ext cx="6361050" cy="6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/>
          <p:nvPr>
            <p:ph type="title"/>
          </p:nvPr>
        </p:nvSpPr>
        <p:spPr>
          <a:xfrm>
            <a:off x="636300" y="652350"/>
            <a:ext cx="414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1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Social Media Issues</a:t>
            </a:r>
            <a:endParaRPr b="1" sz="2811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4"/>
          <p:cNvSpPr txBox="1"/>
          <p:nvPr>
            <p:ph idx="1" type="body"/>
          </p:nvPr>
        </p:nvSpPr>
        <p:spPr>
          <a:xfrm>
            <a:off x="528750" y="1467200"/>
            <a:ext cx="7969500" cy="28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1.</a:t>
            </a: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Manual Data Entry:</a:t>
            </a: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total impressions are tracked manually.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2.Fixed Growth Forecast: </a:t>
            </a: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Monthly display forecasts are based on simple fixed growth rates of 2%, 5%, and 10%, instead of taking historical data into consideration, the accuracy of the forecast may be incomplete</a:t>
            </a: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3.Lack of Impact Insights: </a:t>
            </a: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The current analysis does not adequately showcase IWERC's influence and growth on social media.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69696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5"/>
          <p:cNvSpPr txBox="1"/>
          <p:nvPr>
            <p:ph type="title"/>
          </p:nvPr>
        </p:nvSpPr>
        <p:spPr>
          <a:xfrm>
            <a:off x="399625" y="2290450"/>
            <a:ext cx="3844200" cy="1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solutions</a:t>
            </a:r>
            <a:endParaRPr sz="4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6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Internal Tracking Dashboard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0" name="Google Shape;430;p6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Version: 11/30/2024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1" name="Google Shape;431;p66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provides insights into IWERC’s operations, highlighting yearly trends, publication/ presentation types, and monthly activity to optimize strategic initiatives.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32" name="Google Shape;43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575" y="977780"/>
            <a:ext cx="5687976" cy="318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Version: 11/30/2024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focuses on digital outreach, tracking social media impressions, geographic engagement, and keyword trends to enhance IWERC’s impact and support its mission of advancing education and equity.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9" name="Google Shape;439;p67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Website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Dashboard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950" y="980130"/>
            <a:ext cx="5687976" cy="318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/>
          <p:nvPr>
            <p:ph type="title"/>
          </p:nvPr>
        </p:nvSpPr>
        <p:spPr>
          <a:xfrm>
            <a:off x="226525" y="726250"/>
            <a:ext cx="6048000" cy="13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Presentations &amp; Publications Tracking Solution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6" name="Google Shape;446;p68"/>
          <p:cNvSpPr txBox="1"/>
          <p:nvPr>
            <p:ph idx="5" type="body"/>
          </p:nvPr>
        </p:nvSpPr>
        <p:spPr>
          <a:xfrm>
            <a:off x="226525" y="2241175"/>
            <a:ext cx="5511300" cy="210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Introduce a manual entry form for stakeholders to input presentation details.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Ensure accurate data capture and correct formatting for seamless integration into interactive dashboards.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Feature "Impact Spotlights" on the website to highlight high-impact presentations.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pic>
        <p:nvPicPr>
          <p:cNvPr id="447" name="Google Shape;44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525" y="726238"/>
            <a:ext cx="2640500" cy="36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9"/>
          <p:cNvSpPr txBox="1"/>
          <p:nvPr>
            <p:ph type="title"/>
          </p:nvPr>
        </p:nvSpPr>
        <p:spPr>
          <a:xfrm>
            <a:off x="311700" y="19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Data Extraction Tool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3" name="Google Shape;453;p69"/>
          <p:cNvSpPr txBox="1"/>
          <p:nvPr>
            <p:ph idx="1" type="body"/>
          </p:nvPr>
        </p:nvSpPr>
        <p:spPr>
          <a:xfrm>
            <a:off x="311700" y="1315350"/>
            <a:ext cx="8520600" cy="29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reate an automated tool to gather data using Google Search API and social media APIs and store it in an 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online 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sheet 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4" name="Google Shape;4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600" y="2571752"/>
            <a:ext cx="3905550" cy="1761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350" y="2571750"/>
            <a:ext cx="3820650" cy="176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32566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0"/>
          <p:cNvSpPr txBox="1"/>
          <p:nvPr>
            <p:ph type="title"/>
          </p:nvPr>
        </p:nvSpPr>
        <p:spPr>
          <a:xfrm>
            <a:off x="141225" y="47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 Mentions Categorization (Concept）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1" name="Google Shape;46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910" y="692125"/>
            <a:ext cx="5434415" cy="41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32566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1"/>
          <p:cNvSpPr txBox="1"/>
          <p:nvPr>
            <p:ph type="title"/>
          </p:nvPr>
        </p:nvSpPr>
        <p:spPr>
          <a:xfrm>
            <a:off x="115175" y="75600"/>
            <a:ext cx="86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How Data Extraction Tool Works</a:t>
            </a: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? (Automation)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7" name="Google Shape;46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525" y="1152466"/>
            <a:ext cx="1731902" cy="1322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71"/>
          <p:cNvPicPr preferRelativeResize="0"/>
          <p:nvPr/>
        </p:nvPicPr>
        <p:blipFill rotWithShape="1">
          <a:blip r:embed="rId5">
            <a:alphaModFix/>
          </a:blip>
          <a:srcRect b="57757" l="0" r="80226" t="0"/>
          <a:stretch/>
        </p:blipFill>
        <p:spPr>
          <a:xfrm>
            <a:off x="416325" y="2199713"/>
            <a:ext cx="772251" cy="7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4425" y="2826375"/>
            <a:ext cx="772250" cy="77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4424" y="1885776"/>
            <a:ext cx="1126200" cy="82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71"/>
          <p:cNvSpPr txBox="1"/>
          <p:nvPr>
            <p:ph idx="1" type="body"/>
          </p:nvPr>
        </p:nvSpPr>
        <p:spPr>
          <a:xfrm>
            <a:off x="731725" y="3600250"/>
            <a:ext cx="15984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1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Fetch </a:t>
            </a:r>
            <a:r>
              <a:rPr b="1" lang="en" sz="1152">
                <a:solidFill>
                  <a:srgbClr val="64D755"/>
                </a:solidFill>
                <a:latin typeface="Inter"/>
                <a:ea typeface="Inter"/>
                <a:cs typeface="Inter"/>
                <a:sym typeface="Inter"/>
              </a:rPr>
              <a:t>social media</a:t>
            </a:r>
            <a:r>
              <a:rPr b="1" lang="en" sz="11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lang="en" sz="1152">
                <a:solidFill>
                  <a:srgbClr val="64D755"/>
                </a:solidFill>
                <a:latin typeface="Inter"/>
                <a:ea typeface="Inter"/>
                <a:cs typeface="Inter"/>
                <a:sym typeface="Inter"/>
              </a:rPr>
              <a:t>external website</a:t>
            </a:r>
            <a:r>
              <a:rPr b="1" lang="en" sz="11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data </a:t>
            </a:r>
            <a:r>
              <a:rPr b="1" lang="en" sz="11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through</a:t>
            </a:r>
            <a:r>
              <a:rPr b="1" lang="en" sz="11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APIs</a:t>
            </a:r>
            <a:endParaRPr b="1" sz="11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2" name="Google Shape;472;p71"/>
          <p:cNvSpPr/>
          <p:nvPr/>
        </p:nvSpPr>
        <p:spPr>
          <a:xfrm rot="-1189145">
            <a:off x="2756800" y="2072114"/>
            <a:ext cx="832618" cy="45028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1"/>
          <p:cNvSpPr txBox="1"/>
          <p:nvPr>
            <p:ph idx="1" type="body"/>
          </p:nvPr>
        </p:nvSpPr>
        <p:spPr>
          <a:xfrm>
            <a:off x="3752525" y="2542850"/>
            <a:ext cx="17319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0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Sorting, Categorization and Data Cleaning</a:t>
            </a:r>
            <a:endParaRPr b="1" sz="10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71"/>
          <p:cNvSpPr/>
          <p:nvPr/>
        </p:nvSpPr>
        <p:spPr>
          <a:xfrm rot="611255">
            <a:off x="5670759" y="2072284"/>
            <a:ext cx="826023" cy="450418"/>
          </a:xfrm>
          <a:prstGeom prst="rightArrow">
            <a:avLst>
              <a:gd fmla="val 50000" name="adj1"/>
              <a:gd fmla="val 4610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1"/>
          <p:cNvSpPr txBox="1"/>
          <p:nvPr>
            <p:ph idx="1" type="body"/>
          </p:nvPr>
        </p:nvSpPr>
        <p:spPr>
          <a:xfrm>
            <a:off x="6635188" y="3248000"/>
            <a:ext cx="24192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0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Store data in Google sheet</a:t>
            </a:r>
            <a:endParaRPr b="1" sz="10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6" name="Google Shape;476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83123" y="1824600"/>
            <a:ext cx="1911175" cy="14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71"/>
          <p:cNvSpPr/>
          <p:nvPr/>
        </p:nvSpPr>
        <p:spPr>
          <a:xfrm rot="8712447">
            <a:off x="5954202" y="3782229"/>
            <a:ext cx="825963" cy="4501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44027" y="3600260"/>
            <a:ext cx="1956824" cy="131761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1"/>
          <p:cNvSpPr txBox="1"/>
          <p:nvPr>
            <p:ph idx="1" type="body"/>
          </p:nvPr>
        </p:nvSpPr>
        <p:spPr>
          <a:xfrm>
            <a:off x="3599263" y="3184500"/>
            <a:ext cx="2297100" cy="2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n" sz="10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 data and update graphs regularly</a:t>
            </a:r>
            <a:endParaRPr b="1" sz="10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2"/>
          <p:cNvSpPr txBox="1"/>
          <p:nvPr>
            <p:ph type="title"/>
          </p:nvPr>
        </p:nvSpPr>
        <p:spPr>
          <a:xfrm>
            <a:off x="132625" y="127600"/>
            <a:ext cx="86880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How Data Extraction Tool Works? (Automation)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6428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486" name="Google Shape;486;p72"/>
          <p:cNvSpPr/>
          <p:nvPr/>
        </p:nvSpPr>
        <p:spPr>
          <a:xfrm>
            <a:off x="5168011" y="2312040"/>
            <a:ext cx="3040035" cy="2737601"/>
          </a:xfrm>
          <a:custGeom>
            <a:rect b="b" l="l" r="r" t="t"/>
            <a:pathLst>
              <a:path extrusionOk="0" h="2866598" w="2277180">
                <a:moveTo>
                  <a:pt x="309196" y="812"/>
                </a:moveTo>
                <a:cubicBezTo>
                  <a:pt x="387193" y="-6113"/>
                  <a:pt x="465834" y="31550"/>
                  <a:pt x="507411" y="103787"/>
                </a:cubicBezTo>
                <a:cubicBezTo>
                  <a:pt x="519429" y="125035"/>
                  <a:pt x="527441" y="147637"/>
                  <a:pt x="531553" y="170645"/>
                </a:cubicBezTo>
                <a:cubicBezTo>
                  <a:pt x="535348" y="192164"/>
                  <a:pt x="535665" y="213818"/>
                  <a:pt x="532818" y="234931"/>
                </a:cubicBezTo>
                <a:cubicBezTo>
                  <a:pt x="531237" y="246028"/>
                  <a:pt x="529023" y="256856"/>
                  <a:pt x="525860" y="267412"/>
                </a:cubicBezTo>
                <a:cubicBezTo>
                  <a:pt x="519745" y="310991"/>
                  <a:pt x="527441" y="356736"/>
                  <a:pt x="550951" y="397879"/>
                </a:cubicBezTo>
                <a:cubicBezTo>
                  <a:pt x="609251" y="499654"/>
                  <a:pt x="745777" y="525774"/>
                  <a:pt x="847301" y="467308"/>
                </a:cubicBezTo>
                <a:lnTo>
                  <a:pt x="939021" y="414390"/>
                </a:lnTo>
                <a:cubicBezTo>
                  <a:pt x="1062790" y="343067"/>
                  <a:pt x="1215023" y="343067"/>
                  <a:pt x="1338792" y="414661"/>
                </a:cubicBezTo>
                <a:lnTo>
                  <a:pt x="2077294" y="841520"/>
                </a:lnTo>
                <a:cubicBezTo>
                  <a:pt x="2201063" y="912844"/>
                  <a:pt x="2277180" y="1044935"/>
                  <a:pt x="2277180" y="1187853"/>
                </a:cubicBezTo>
                <a:lnTo>
                  <a:pt x="2276864" y="2040895"/>
                </a:lnTo>
                <a:cubicBezTo>
                  <a:pt x="2276864" y="2183813"/>
                  <a:pt x="2200431" y="2315633"/>
                  <a:pt x="2077294" y="2386957"/>
                </a:cubicBezTo>
                <a:lnTo>
                  <a:pt x="1338159" y="2813139"/>
                </a:lnTo>
                <a:cubicBezTo>
                  <a:pt x="1214391" y="2884463"/>
                  <a:pt x="1062157" y="2884463"/>
                  <a:pt x="938388" y="2812869"/>
                </a:cubicBezTo>
                <a:lnTo>
                  <a:pt x="199886" y="2386009"/>
                </a:lnTo>
                <a:cubicBezTo>
                  <a:pt x="76117" y="2314686"/>
                  <a:pt x="0" y="2182595"/>
                  <a:pt x="0" y="2039677"/>
                </a:cubicBezTo>
                <a:lnTo>
                  <a:pt x="94" y="1786622"/>
                </a:lnTo>
                <a:lnTo>
                  <a:pt x="2075" y="1776216"/>
                </a:lnTo>
                <a:cubicBezTo>
                  <a:pt x="33153" y="1697152"/>
                  <a:pt x="106297" y="1638148"/>
                  <a:pt x="194206" y="1638324"/>
                </a:cubicBezTo>
                <a:cubicBezTo>
                  <a:pt x="241563" y="1638677"/>
                  <a:pt x="284892" y="1654918"/>
                  <a:pt x="319611" y="1681633"/>
                </a:cubicBezTo>
                <a:cubicBezTo>
                  <a:pt x="327249" y="1689635"/>
                  <a:pt x="335443" y="1697285"/>
                  <a:pt x="344053" y="1703993"/>
                </a:cubicBezTo>
                <a:cubicBezTo>
                  <a:pt x="360996" y="1717056"/>
                  <a:pt x="380022" y="1727530"/>
                  <a:pt x="400437" y="1734827"/>
                </a:cubicBezTo>
                <a:cubicBezTo>
                  <a:pt x="422380" y="1742829"/>
                  <a:pt x="445989" y="1747184"/>
                  <a:pt x="470431" y="1747184"/>
                </a:cubicBezTo>
                <a:cubicBezTo>
                  <a:pt x="603891" y="1747184"/>
                  <a:pt x="707909" y="1621142"/>
                  <a:pt x="669996" y="1481801"/>
                </a:cubicBezTo>
                <a:cubicBezTo>
                  <a:pt x="653748" y="1421664"/>
                  <a:pt x="607918" y="1371647"/>
                  <a:pt x="550285" y="1348345"/>
                </a:cubicBezTo>
                <a:cubicBezTo>
                  <a:pt x="496540" y="1326809"/>
                  <a:pt x="445017" y="1328927"/>
                  <a:pt x="400437" y="1344932"/>
                </a:cubicBezTo>
                <a:cubicBezTo>
                  <a:pt x="379745" y="1352582"/>
                  <a:pt x="360302" y="1363056"/>
                  <a:pt x="343081" y="1376355"/>
                </a:cubicBezTo>
                <a:cubicBezTo>
                  <a:pt x="335165" y="1382827"/>
                  <a:pt x="327527" y="1389771"/>
                  <a:pt x="320167" y="1397067"/>
                </a:cubicBezTo>
                <a:cubicBezTo>
                  <a:pt x="285448" y="1424135"/>
                  <a:pt x="241841" y="1440729"/>
                  <a:pt x="194484" y="1441082"/>
                </a:cubicBezTo>
                <a:cubicBezTo>
                  <a:pt x="108033" y="1441788"/>
                  <a:pt x="33613" y="1381261"/>
                  <a:pt x="1806" y="1302346"/>
                </a:cubicBezTo>
                <a:lnTo>
                  <a:pt x="277" y="1294597"/>
                </a:lnTo>
                <a:lnTo>
                  <a:pt x="317" y="1186635"/>
                </a:lnTo>
                <a:cubicBezTo>
                  <a:pt x="633" y="1043717"/>
                  <a:pt x="76750" y="911626"/>
                  <a:pt x="200519" y="840302"/>
                </a:cubicBezTo>
                <a:lnTo>
                  <a:pt x="292238" y="787520"/>
                </a:lnTo>
                <a:cubicBezTo>
                  <a:pt x="391865" y="730136"/>
                  <a:pt x="438357" y="594933"/>
                  <a:pt x="380057" y="495594"/>
                </a:cubicBezTo>
                <a:cubicBezTo>
                  <a:pt x="356231" y="454857"/>
                  <a:pt x="319860" y="425217"/>
                  <a:pt x="279166" y="408706"/>
                </a:cubicBezTo>
                <a:cubicBezTo>
                  <a:pt x="269256" y="406135"/>
                  <a:pt x="259451" y="402886"/>
                  <a:pt x="249857" y="399097"/>
                </a:cubicBezTo>
                <a:cubicBezTo>
                  <a:pt x="229510" y="391112"/>
                  <a:pt x="210745" y="379743"/>
                  <a:pt x="193877" y="365398"/>
                </a:cubicBezTo>
                <a:cubicBezTo>
                  <a:pt x="157611" y="334811"/>
                  <a:pt x="130200" y="291502"/>
                  <a:pt x="121872" y="233983"/>
                </a:cubicBezTo>
                <a:cubicBezTo>
                  <a:pt x="113332" y="172539"/>
                  <a:pt x="133679" y="107847"/>
                  <a:pt x="177641" y="63591"/>
                </a:cubicBezTo>
                <a:cubicBezTo>
                  <a:pt x="215831" y="25172"/>
                  <a:pt x="262398" y="4966"/>
                  <a:pt x="309196" y="812"/>
                </a:cubicBezTo>
                <a:close/>
              </a:path>
            </a:pathLst>
          </a:custGeom>
          <a:solidFill>
            <a:srgbClr val="969696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2"/>
          <p:cNvSpPr/>
          <p:nvPr/>
        </p:nvSpPr>
        <p:spPr>
          <a:xfrm>
            <a:off x="2120434" y="2584243"/>
            <a:ext cx="3964552" cy="2393577"/>
          </a:xfrm>
          <a:custGeom>
            <a:rect b="b" l="l" r="r" t="t"/>
            <a:pathLst>
              <a:path extrusionOk="0" h="2506363" w="2969702">
                <a:moveTo>
                  <a:pt x="1138421" y="0"/>
                </a:moveTo>
                <a:cubicBezTo>
                  <a:pt x="1207460" y="0"/>
                  <a:pt x="1276551" y="17830"/>
                  <a:pt x="1338490" y="53488"/>
                </a:cubicBezTo>
                <a:lnTo>
                  <a:pt x="2077312" y="479983"/>
                </a:lnTo>
                <a:cubicBezTo>
                  <a:pt x="2201051" y="551654"/>
                  <a:pt x="2277155" y="683463"/>
                  <a:pt x="2277155" y="826334"/>
                </a:cubicBezTo>
                <a:lnTo>
                  <a:pt x="2277155" y="932369"/>
                </a:lnTo>
                <a:cubicBezTo>
                  <a:pt x="2277155" y="1047584"/>
                  <a:pt x="2371035" y="1155502"/>
                  <a:pt x="2486303" y="1154561"/>
                </a:cubicBezTo>
                <a:cubicBezTo>
                  <a:pt x="2533660" y="1154208"/>
                  <a:pt x="2577267" y="1137614"/>
                  <a:pt x="2611986" y="1110546"/>
                </a:cubicBezTo>
                <a:cubicBezTo>
                  <a:pt x="2619346" y="1103250"/>
                  <a:pt x="2626984" y="1096306"/>
                  <a:pt x="2634900" y="1089834"/>
                </a:cubicBezTo>
                <a:cubicBezTo>
                  <a:pt x="2652121" y="1076535"/>
                  <a:pt x="2671564" y="1066061"/>
                  <a:pt x="2692256" y="1058411"/>
                </a:cubicBezTo>
                <a:cubicBezTo>
                  <a:pt x="2736836" y="1042406"/>
                  <a:pt x="2788359" y="1040288"/>
                  <a:pt x="2842104" y="1061824"/>
                </a:cubicBezTo>
                <a:cubicBezTo>
                  <a:pt x="2899737" y="1085126"/>
                  <a:pt x="2945567" y="1135143"/>
                  <a:pt x="2961815" y="1195280"/>
                </a:cubicBezTo>
                <a:cubicBezTo>
                  <a:pt x="2999728" y="1334621"/>
                  <a:pt x="2895710" y="1460663"/>
                  <a:pt x="2762250" y="1460663"/>
                </a:cubicBezTo>
                <a:cubicBezTo>
                  <a:pt x="2737808" y="1460663"/>
                  <a:pt x="2714199" y="1456308"/>
                  <a:pt x="2692256" y="1448306"/>
                </a:cubicBezTo>
                <a:cubicBezTo>
                  <a:pt x="2671841" y="1441009"/>
                  <a:pt x="2652815" y="1430535"/>
                  <a:pt x="2635872" y="1417472"/>
                </a:cubicBezTo>
                <a:cubicBezTo>
                  <a:pt x="2627262" y="1410764"/>
                  <a:pt x="2619068" y="1403114"/>
                  <a:pt x="2611430" y="1395112"/>
                </a:cubicBezTo>
                <a:cubicBezTo>
                  <a:pt x="2576711" y="1368397"/>
                  <a:pt x="2533382" y="1352156"/>
                  <a:pt x="2486025" y="1351803"/>
                </a:cubicBezTo>
                <a:cubicBezTo>
                  <a:pt x="2368813" y="1351568"/>
                  <a:pt x="2277849" y="1456544"/>
                  <a:pt x="2277849" y="1573995"/>
                </a:cubicBezTo>
                <a:lnTo>
                  <a:pt x="2277849" y="1680030"/>
                </a:lnTo>
                <a:cubicBezTo>
                  <a:pt x="2277849" y="1822901"/>
                  <a:pt x="2201745" y="1955063"/>
                  <a:pt x="2077868" y="2026381"/>
                </a:cubicBezTo>
                <a:lnTo>
                  <a:pt x="1339184" y="2452876"/>
                </a:lnTo>
                <a:cubicBezTo>
                  <a:pt x="1215585" y="2524193"/>
                  <a:pt x="1063098" y="2524193"/>
                  <a:pt x="939360" y="2452876"/>
                </a:cubicBezTo>
                <a:lnTo>
                  <a:pt x="200538" y="2026381"/>
                </a:lnTo>
                <a:cubicBezTo>
                  <a:pt x="76660" y="1955063"/>
                  <a:pt x="695" y="1822901"/>
                  <a:pt x="0" y="1679442"/>
                </a:cubicBezTo>
                <a:lnTo>
                  <a:pt x="0" y="826334"/>
                </a:lnTo>
                <a:cubicBezTo>
                  <a:pt x="0" y="683463"/>
                  <a:pt x="76104" y="551301"/>
                  <a:pt x="199843" y="479983"/>
                </a:cubicBezTo>
                <a:lnTo>
                  <a:pt x="351034" y="392707"/>
                </a:lnTo>
                <a:lnTo>
                  <a:pt x="428568" y="365760"/>
                </a:lnTo>
                <a:cubicBezTo>
                  <a:pt x="512530" y="353211"/>
                  <a:pt x="600256" y="386987"/>
                  <a:pt x="643981" y="463318"/>
                </a:cubicBezTo>
                <a:cubicBezTo>
                  <a:pt x="667491" y="504461"/>
                  <a:pt x="675187" y="550205"/>
                  <a:pt x="669072" y="593784"/>
                </a:cubicBezTo>
                <a:cubicBezTo>
                  <a:pt x="665910" y="604341"/>
                  <a:pt x="663696" y="615168"/>
                  <a:pt x="662114" y="626266"/>
                </a:cubicBezTo>
                <a:cubicBezTo>
                  <a:pt x="659268" y="647379"/>
                  <a:pt x="659584" y="669033"/>
                  <a:pt x="663379" y="690552"/>
                </a:cubicBezTo>
                <a:cubicBezTo>
                  <a:pt x="667491" y="713559"/>
                  <a:pt x="675503" y="736161"/>
                  <a:pt x="687522" y="757409"/>
                </a:cubicBezTo>
                <a:cubicBezTo>
                  <a:pt x="754045" y="872989"/>
                  <a:pt x="915451" y="900056"/>
                  <a:pt x="1017291" y="797605"/>
                </a:cubicBezTo>
                <a:cubicBezTo>
                  <a:pt x="1061253" y="753349"/>
                  <a:pt x="1081600" y="688657"/>
                  <a:pt x="1073061" y="627213"/>
                </a:cubicBezTo>
                <a:cubicBezTo>
                  <a:pt x="1064732" y="569694"/>
                  <a:pt x="1037322" y="526386"/>
                  <a:pt x="1001056" y="495799"/>
                </a:cubicBezTo>
                <a:cubicBezTo>
                  <a:pt x="984188" y="481453"/>
                  <a:pt x="965422" y="470085"/>
                  <a:pt x="945075" y="462100"/>
                </a:cubicBezTo>
                <a:cubicBezTo>
                  <a:pt x="935481" y="458310"/>
                  <a:pt x="925677" y="455062"/>
                  <a:pt x="915767" y="452491"/>
                </a:cubicBezTo>
                <a:cubicBezTo>
                  <a:pt x="875073" y="435979"/>
                  <a:pt x="838701" y="406340"/>
                  <a:pt x="814875" y="365603"/>
                </a:cubicBezTo>
                <a:cubicBezTo>
                  <a:pt x="771150" y="291099"/>
                  <a:pt x="786371" y="196421"/>
                  <a:pt x="838744" y="129530"/>
                </a:cubicBezTo>
                <a:lnTo>
                  <a:pt x="900749" y="75376"/>
                </a:lnTo>
                <a:lnTo>
                  <a:pt x="938665" y="53488"/>
                </a:lnTo>
                <a:cubicBezTo>
                  <a:pt x="1000396" y="17830"/>
                  <a:pt x="1069382" y="0"/>
                  <a:pt x="1138421" y="0"/>
                </a:cubicBezTo>
                <a:close/>
              </a:path>
            </a:pathLst>
          </a:custGeom>
          <a:solidFill>
            <a:srgbClr val="595959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2"/>
          <p:cNvSpPr/>
          <p:nvPr/>
        </p:nvSpPr>
        <p:spPr>
          <a:xfrm>
            <a:off x="2797707" y="739596"/>
            <a:ext cx="3964556" cy="2393577"/>
          </a:xfrm>
          <a:custGeom>
            <a:rect b="b" l="l" r="r" t="t"/>
            <a:pathLst>
              <a:path extrusionOk="0" h="2506363" w="2969705">
                <a:moveTo>
                  <a:pt x="1830381" y="0"/>
                </a:moveTo>
                <a:cubicBezTo>
                  <a:pt x="1899420" y="0"/>
                  <a:pt x="1968476" y="17829"/>
                  <a:pt x="2030345" y="53488"/>
                </a:cubicBezTo>
                <a:lnTo>
                  <a:pt x="2769168" y="479983"/>
                </a:lnTo>
                <a:cubicBezTo>
                  <a:pt x="2892629" y="551301"/>
                  <a:pt x="2969011" y="683463"/>
                  <a:pt x="2969705" y="826922"/>
                </a:cubicBezTo>
                <a:lnTo>
                  <a:pt x="2969705" y="1680030"/>
                </a:lnTo>
                <a:cubicBezTo>
                  <a:pt x="2969705" y="1822901"/>
                  <a:pt x="2893601" y="1955063"/>
                  <a:pt x="2769862" y="2026381"/>
                </a:cubicBezTo>
                <a:lnTo>
                  <a:pt x="2563491" y="2145512"/>
                </a:lnTo>
                <a:lnTo>
                  <a:pt x="2548864" y="2150595"/>
                </a:lnTo>
                <a:cubicBezTo>
                  <a:pt x="2464903" y="2163144"/>
                  <a:pt x="2377176" y="2129368"/>
                  <a:pt x="2333451" y="2053037"/>
                </a:cubicBezTo>
                <a:cubicBezTo>
                  <a:pt x="2309941" y="2011894"/>
                  <a:pt x="2302245" y="1966149"/>
                  <a:pt x="2308360" y="1922570"/>
                </a:cubicBezTo>
                <a:cubicBezTo>
                  <a:pt x="2311523" y="1912014"/>
                  <a:pt x="2313737" y="1901186"/>
                  <a:pt x="2315318" y="1890089"/>
                </a:cubicBezTo>
                <a:cubicBezTo>
                  <a:pt x="2318165" y="1868976"/>
                  <a:pt x="2317848" y="1847322"/>
                  <a:pt x="2314053" y="1825803"/>
                </a:cubicBezTo>
                <a:cubicBezTo>
                  <a:pt x="2309941" y="1802795"/>
                  <a:pt x="2301929" y="1780193"/>
                  <a:pt x="2289911" y="1758945"/>
                </a:cubicBezTo>
                <a:cubicBezTo>
                  <a:pt x="2223388" y="1643366"/>
                  <a:pt x="2061982" y="1616298"/>
                  <a:pt x="1960141" y="1718749"/>
                </a:cubicBezTo>
                <a:cubicBezTo>
                  <a:pt x="1916179" y="1763005"/>
                  <a:pt x="1895832" y="1827697"/>
                  <a:pt x="1904372" y="1889141"/>
                </a:cubicBezTo>
                <a:cubicBezTo>
                  <a:pt x="1912700" y="1946660"/>
                  <a:pt x="1940111" y="1989969"/>
                  <a:pt x="1976377" y="2020556"/>
                </a:cubicBezTo>
                <a:cubicBezTo>
                  <a:pt x="1993245" y="2034901"/>
                  <a:pt x="2012010" y="2046270"/>
                  <a:pt x="2032357" y="2054255"/>
                </a:cubicBezTo>
                <a:cubicBezTo>
                  <a:pt x="2041951" y="2058044"/>
                  <a:pt x="2051756" y="2061293"/>
                  <a:pt x="2061666" y="2063864"/>
                </a:cubicBezTo>
                <a:cubicBezTo>
                  <a:pt x="2102360" y="2080375"/>
                  <a:pt x="2138731" y="2110015"/>
                  <a:pt x="2162557" y="2150752"/>
                </a:cubicBezTo>
                <a:cubicBezTo>
                  <a:pt x="2206282" y="2225256"/>
                  <a:pt x="2191061" y="2319934"/>
                  <a:pt x="2138688" y="2386825"/>
                </a:cubicBezTo>
                <a:lnTo>
                  <a:pt x="2125485" y="2398356"/>
                </a:lnTo>
                <a:lnTo>
                  <a:pt x="2031040" y="2452876"/>
                </a:lnTo>
                <a:cubicBezTo>
                  <a:pt x="1907578" y="2524193"/>
                  <a:pt x="1755092" y="2524193"/>
                  <a:pt x="1631214" y="2452876"/>
                </a:cubicBezTo>
                <a:lnTo>
                  <a:pt x="892392" y="2026381"/>
                </a:lnTo>
                <a:cubicBezTo>
                  <a:pt x="768653" y="1954710"/>
                  <a:pt x="692549" y="1822901"/>
                  <a:pt x="692549" y="1680030"/>
                </a:cubicBezTo>
                <a:lnTo>
                  <a:pt x="692549" y="1573995"/>
                </a:lnTo>
                <a:lnTo>
                  <a:pt x="692528" y="1573891"/>
                </a:lnTo>
                <a:lnTo>
                  <a:pt x="692528" y="1596257"/>
                </a:lnTo>
                <a:cubicBezTo>
                  <a:pt x="692528" y="1481044"/>
                  <a:pt x="598629" y="1373135"/>
                  <a:pt x="483387" y="1374085"/>
                </a:cubicBezTo>
                <a:cubicBezTo>
                  <a:pt x="435985" y="1374382"/>
                  <a:pt x="392364" y="1390952"/>
                  <a:pt x="357674" y="1418003"/>
                </a:cubicBezTo>
                <a:cubicBezTo>
                  <a:pt x="350348" y="1425338"/>
                  <a:pt x="342721" y="1432316"/>
                  <a:pt x="334759" y="1438700"/>
                </a:cubicBezTo>
                <a:cubicBezTo>
                  <a:pt x="317565" y="1452062"/>
                  <a:pt x="298130" y="1462574"/>
                  <a:pt x="277456" y="1470205"/>
                </a:cubicBezTo>
                <a:cubicBezTo>
                  <a:pt x="232898" y="1486121"/>
                  <a:pt x="181315" y="1488349"/>
                  <a:pt x="127525" y="1466701"/>
                </a:cubicBezTo>
                <a:cubicBezTo>
                  <a:pt x="69920" y="1443481"/>
                  <a:pt x="24091" y="1393505"/>
                  <a:pt x="7833" y="1333345"/>
                </a:cubicBezTo>
                <a:cubicBezTo>
                  <a:pt x="3100" y="1315914"/>
                  <a:pt x="585" y="1298694"/>
                  <a:pt x="68" y="1281903"/>
                </a:cubicBezTo>
                <a:lnTo>
                  <a:pt x="1304" y="1267599"/>
                </a:lnTo>
                <a:lnTo>
                  <a:pt x="104" y="1259675"/>
                </a:lnTo>
                <a:cubicBezTo>
                  <a:pt x="-3561" y="1142202"/>
                  <a:pt x="90676" y="1045701"/>
                  <a:pt x="207454" y="1045701"/>
                </a:cubicBezTo>
                <a:cubicBezTo>
                  <a:pt x="231896" y="1045701"/>
                  <a:pt x="255505" y="1050055"/>
                  <a:pt x="277447" y="1058058"/>
                </a:cubicBezTo>
                <a:cubicBezTo>
                  <a:pt x="297862" y="1065355"/>
                  <a:pt x="316888" y="1075829"/>
                  <a:pt x="333831" y="1088892"/>
                </a:cubicBezTo>
                <a:cubicBezTo>
                  <a:pt x="342441" y="1095600"/>
                  <a:pt x="350635" y="1103250"/>
                  <a:pt x="358273" y="1111252"/>
                </a:cubicBezTo>
                <a:cubicBezTo>
                  <a:pt x="392992" y="1137967"/>
                  <a:pt x="436322" y="1154208"/>
                  <a:pt x="483679" y="1154561"/>
                </a:cubicBezTo>
                <a:cubicBezTo>
                  <a:pt x="600890" y="1154796"/>
                  <a:pt x="691854" y="1049820"/>
                  <a:pt x="691854" y="932369"/>
                </a:cubicBezTo>
                <a:lnTo>
                  <a:pt x="691854" y="826334"/>
                </a:lnTo>
                <a:cubicBezTo>
                  <a:pt x="691854" y="683463"/>
                  <a:pt x="767959" y="551301"/>
                  <a:pt x="891836" y="479983"/>
                </a:cubicBezTo>
                <a:lnTo>
                  <a:pt x="1630520" y="53488"/>
                </a:lnTo>
                <a:cubicBezTo>
                  <a:pt x="1692320" y="17829"/>
                  <a:pt x="1761342" y="0"/>
                  <a:pt x="1830381" y="0"/>
                </a:cubicBezTo>
                <a:close/>
              </a:path>
            </a:pathLst>
          </a:custGeom>
          <a:solidFill>
            <a:srgbClr val="132566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2"/>
          <p:cNvSpPr/>
          <p:nvPr/>
        </p:nvSpPr>
        <p:spPr>
          <a:xfrm>
            <a:off x="681300" y="679060"/>
            <a:ext cx="3040035" cy="2737598"/>
          </a:xfrm>
          <a:custGeom>
            <a:rect b="b" l="l" r="r" t="t"/>
            <a:pathLst>
              <a:path extrusionOk="0" h="2866595" w="2277180">
                <a:moveTo>
                  <a:pt x="1138907" y="0"/>
                </a:moveTo>
                <a:cubicBezTo>
                  <a:pt x="1207907" y="34"/>
                  <a:pt x="1276908" y="17932"/>
                  <a:pt x="1338792" y="53730"/>
                </a:cubicBezTo>
                <a:lnTo>
                  <a:pt x="2077294" y="480589"/>
                </a:lnTo>
                <a:cubicBezTo>
                  <a:pt x="2201063" y="551912"/>
                  <a:pt x="2277180" y="684003"/>
                  <a:pt x="2277180" y="826921"/>
                </a:cubicBezTo>
                <a:lnTo>
                  <a:pt x="2277105" y="1029276"/>
                </a:lnTo>
                <a:lnTo>
                  <a:pt x="2267377" y="1080391"/>
                </a:lnTo>
                <a:cubicBezTo>
                  <a:pt x="2236299" y="1159454"/>
                  <a:pt x="2163155" y="1218459"/>
                  <a:pt x="2075246" y="1218283"/>
                </a:cubicBezTo>
                <a:cubicBezTo>
                  <a:pt x="2027889" y="1217930"/>
                  <a:pt x="1984559" y="1201689"/>
                  <a:pt x="1949840" y="1174974"/>
                </a:cubicBezTo>
                <a:cubicBezTo>
                  <a:pt x="1942202" y="1166972"/>
                  <a:pt x="1934008" y="1159322"/>
                  <a:pt x="1925398" y="1152614"/>
                </a:cubicBezTo>
                <a:cubicBezTo>
                  <a:pt x="1908455" y="1139551"/>
                  <a:pt x="1889429" y="1129077"/>
                  <a:pt x="1869014" y="1121780"/>
                </a:cubicBezTo>
                <a:cubicBezTo>
                  <a:pt x="1847072" y="1113777"/>
                  <a:pt x="1823463" y="1109423"/>
                  <a:pt x="1799021" y="1109423"/>
                </a:cubicBezTo>
                <a:cubicBezTo>
                  <a:pt x="1682243" y="1109423"/>
                  <a:pt x="1588006" y="1205924"/>
                  <a:pt x="1591671" y="1323397"/>
                </a:cubicBezTo>
                <a:lnTo>
                  <a:pt x="1592871" y="1331321"/>
                </a:lnTo>
                <a:lnTo>
                  <a:pt x="1591635" y="1345625"/>
                </a:lnTo>
                <a:cubicBezTo>
                  <a:pt x="1592152" y="1362416"/>
                  <a:pt x="1594667" y="1379636"/>
                  <a:pt x="1599400" y="1397067"/>
                </a:cubicBezTo>
                <a:cubicBezTo>
                  <a:pt x="1615658" y="1457227"/>
                  <a:pt x="1661487" y="1507203"/>
                  <a:pt x="1719092" y="1530423"/>
                </a:cubicBezTo>
                <a:cubicBezTo>
                  <a:pt x="1772882" y="1552071"/>
                  <a:pt x="1824465" y="1549843"/>
                  <a:pt x="1869023" y="1533927"/>
                </a:cubicBezTo>
                <a:cubicBezTo>
                  <a:pt x="1889697" y="1526296"/>
                  <a:pt x="1909132" y="1515784"/>
                  <a:pt x="1926326" y="1502422"/>
                </a:cubicBezTo>
                <a:cubicBezTo>
                  <a:pt x="1934288" y="1496038"/>
                  <a:pt x="1941915" y="1489060"/>
                  <a:pt x="1949241" y="1481725"/>
                </a:cubicBezTo>
                <a:cubicBezTo>
                  <a:pt x="1983931" y="1454674"/>
                  <a:pt x="2027552" y="1438104"/>
                  <a:pt x="2074954" y="1437807"/>
                </a:cubicBezTo>
                <a:cubicBezTo>
                  <a:pt x="2161386" y="1437095"/>
                  <a:pt x="2235812" y="1497615"/>
                  <a:pt x="2267623" y="1576526"/>
                </a:cubicBezTo>
                <a:lnTo>
                  <a:pt x="2276885" y="1623451"/>
                </a:lnTo>
                <a:lnTo>
                  <a:pt x="2276864" y="1679962"/>
                </a:lnTo>
                <a:cubicBezTo>
                  <a:pt x="2276548" y="1822880"/>
                  <a:pt x="2200431" y="1954971"/>
                  <a:pt x="2076662" y="2026295"/>
                </a:cubicBezTo>
                <a:lnTo>
                  <a:pt x="1984942" y="2079077"/>
                </a:lnTo>
                <a:cubicBezTo>
                  <a:pt x="1885315" y="2136461"/>
                  <a:pt x="1838823" y="2271664"/>
                  <a:pt x="1897123" y="2371003"/>
                </a:cubicBezTo>
                <a:cubicBezTo>
                  <a:pt x="1920949" y="2411740"/>
                  <a:pt x="1957321" y="2441379"/>
                  <a:pt x="1998015" y="2457891"/>
                </a:cubicBezTo>
                <a:cubicBezTo>
                  <a:pt x="2007925" y="2460462"/>
                  <a:pt x="2017729" y="2463710"/>
                  <a:pt x="2027323" y="2467500"/>
                </a:cubicBezTo>
                <a:cubicBezTo>
                  <a:pt x="2047670" y="2475485"/>
                  <a:pt x="2066436" y="2486853"/>
                  <a:pt x="2083304" y="2501199"/>
                </a:cubicBezTo>
                <a:cubicBezTo>
                  <a:pt x="2119570" y="2531786"/>
                  <a:pt x="2146980" y="2575094"/>
                  <a:pt x="2155309" y="2632613"/>
                </a:cubicBezTo>
                <a:cubicBezTo>
                  <a:pt x="2163848" y="2694057"/>
                  <a:pt x="2143501" y="2758749"/>
                  <a:pt x="2099539" y="2803005"/>
                </a:cubicBezTo>
                <a:cubicBezTo>
                  <a:pt x="1997699" y="2905456"/>
                  <a:pt x="1836293" y="2878389"/>
                  <a:pt x="1769770" y="2762809"/>
                </a:cubicBezTo>
                <a:cubicBezTo>
                  <a:pt x="1757751" y="2741561"/>
                  <a:pt x="1749739" y="2718959"/>
                  <a:pt x="1745627" y="2695952"/>
                </a:cubicBezTo>
                <a:cubicBezTo>
                  <a:pt x="1741832" y="2674433"/>
                  <a:pt x="1741516" y="2652779"/>
                  <a:pt x="1744362" y="2631666"/>
                </a:cubicBezTo>
                <a:cubicBezTo>
                  <a:pt x="1745944" y="2620568"/>
                  <a:pt x="1748158" y="2609741"/>
                  <a:pt x="1751320" y="2599184"/>
                </a:cubicBezTo>
                <a:cubicBezTo>
                  <a:pt x="1757435" y="2555605"/>
                  <a:pt x="1749739" y="2509861"/>
                  <a:pt x="1726229" y="2468718"/>
                </a:cubicBezTo>
                <a:cubicBezTo>
                  <a:pt x="1667929" y="2366943"/>
                  <a:pt x="1531404" y="2340822"/>
                  <a:pt x="1429879" y="2399289"/>
                </a:cubicBezTo>
                <a:lnTo>
                  <a:pt x="1338160" y="2452206"/>
                </a:lnTo>
                <a:cubicBezTo>
                  <a:pt x="1214391" y="2523530"/>
                  <a:pt x="1062157" y="2523530"/>
                  <a:pt x="938388" y="2451936"/>
                </a:cubicBezTo>
                <a:lnTo>
                  <a:pt x="199886" y="2025077"/>
                </a:lnTo>
                <a:cubicBezTo>
                  <a:pt x="76117" y="1953753"/>
                  <a:pt x="0" y="1821662"/>
                  <a:pt x="0" y="1678744"/>
                </a:cubicBezTo>
                <a:lnTo>
                  <a:pt x="316" y="825703"/>
                </a:lnTo>
                <a:cubicBezTo>
                  <a:pt x="316" y="682785"/>
                  <a:pt x="76750" y="550965"/>
                  <a:pt x="199886" y="479641"/>
                </a:cubicBezTo>
                <a:lnTo>
                  <a:pt x="939021" y="53459"/>
                </a:lnTo>
                <a:cubicBezTo>
                  <a:pt x="1000905" y="17797"/>
                  <a:pt x="1069906" y="-34"/>
                  <a:pt x="1138907" y="0"/>
                </a:cubicBezTo>
                <a:close/>
              </a:path>
            </a:pathLst>
          </a:custGeom>
          <a:solidFill>
            <a:srgbClr val="64D755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2"/>
          <p:cNvSpPr/>
          <p:nvPr/>
        </p:nvSpPr>
        <p:spPr>
          <a:xfrm>
            <a:off x="1009439" y="679050"/>
            <a:ext cx="24849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21C28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91" name="Google Shape;491;p72"/>
          <p:cNvSpPr/>
          <p:nvPr/>
        </p:nvSpPr>
        <p:spPr>
          <a:xfrm>
            <a:off x="3848955" y="837234"/>
            <a:ext cx="28308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92" name="Google Shape;492;p72"/>
          <p:cNvSpPr/>
          <p:nvPr/>
        </p:nvSpPr>
        <p:spPr>
          <a:xfrm>
            <a:off x="5994583" y="2917626"/>
            <a:ext cx="1386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93" name="Google Shape;493;p72"/>
          <p:cNvSpPr/>
          <p:nvPr/>
        </p:nvSpPr>
        <p:spPr>
          <a:xfrm>
            <a:off x="3321803" y="2988257"/>
            <a:ext cx="17523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494" name="Google Shape;49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414" y="1372500"/>
            <a:ext cx="845577" cy="56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72"/>
          <p:cNvPicPr preferRelativeResize="0"/>
          <p:nvPr/>
        </p:nvPicPr>
        <p:blipFill rotWithShape="1">
          <a:blip r:embed="rId4">
            <a:alphaModFix/>
          </a:blip>
          <a:srcRect b="57757" l="0" r="80226" t="0"/>
          <a:stretch/>
        </p:blipFill>
        <p:spPr>
          <a:xfrm>
            <a:off x="1345991" y="1308568"/>
            <a:ext cx="577298" cy="51019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72"/>
          <p:cNvSpPr txBox="1"/>
          <p:nvPr>
            <p:ph idx="4294967295" type="body"/>
          </p:nvPr>
        </p:nvSpPr>
        <p:spPr>
          <a:xfrm>
            <a:off x="1572166" y="2139535"/>
            <a:ext cx="1584000" cy="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052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Fetch social media &amp; external website data through APIs</a:t>
            </a:r>
            <a:endParaRPr b="1" sz="1052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7" name="Google Shape;49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874" y="1717460"/>
            <a:ext cx="515129" cy="47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9568" y="1308560"/>
            <a:ext cx="1224878" cy="92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2"/>
          <p:cNvSpPr txBox="1"/>
          <p:nvPr>
            <p:ph idx="4294967295" type="body"/>
          </p:nvPr>
        </p:nvSpPr>
        <p:spPr>
          <a:xfrm>
            <a:off x="5184432" y="1518774"/>
            <a:ext cx="1584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0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Sorting, Categorization and Data Cleaning</a:t>
            </a:r>
            <a:endParaRPr b="1" sz="10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0" name="Google Shape;500;p72"/>
          <p:cNvPicPr preferRelativeResize="0"/>
          <p:nvPr/>
        </p:nvPicPr>
        <p:blipFill rotWithShape="1">
          <a:blip r:embed="rId7">
            <a:alphaModFix/>
          </a:blip>
          <a:srcRect b="42646" l="6879" r="4586" t="6602"/>
          <a:stretch/>
        </p:blipFill>
        <p:spPr>
          <a:xfrm>
            <a:off x="6207809" y="3287115"/>
            <a:ext cx="1692152" cy="71064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72"/>
          <p:cNvSpPr txBox="1"/>
          <p:nvPr>
            <p:ph idx="4294967295" type="body"/>
          </p:nvPr>
        </p:nvSpPr>
        <p:spPr>
          <a:xfrm>
            <a:off x="6149971" y="4044759"/>
            <a:ext cx="24192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358"/>
              <a:buNone/>
            </a:pPr>
            <a:r>
              <a:rPr b="1" lang="en" sz="1052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Store data in Google sheet</a:t>
            </a:r>
            <a:endParaRPr b="1" sz="10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2" name="Google Shape;502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1330" y="3414397"/>
            <a:ext cx="1277699" cy="84633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72"/>
          <p:cNvSpPr txBox="1"/>
          <p:nvPr>
            <p:ph idx="4294967295" type="body"/>
          </p:nvPr>
        </p:nvSpPr>
        <p:spPr>
          <a:xfrm>
            <a:off x="2207877" y="3555476"/>
            <a:ext cx="1440300" cy="9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n" sz="105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 data and update graphs regularly</a:t>
            </a:r>
            <a:endParaRPr b="1" sz="105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32566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3"/>
          <p:cNvSpPr txBox="1"/>
          <p:nvPr>
            <p:ph type="title"/>
          </p:nvPr>
        </p:nvSpPr>
        <p:spPr>
          <a:xfrm>
            <a:off x="141225" y="47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 Text Categorization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09" name="Google Shape;50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725" y="778775"/>
            <a:ext cx="2163675" cy="13522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73"/>
          <p:cNvSpPr txBox="1"/>
          <p:nvPr>
            <p:ph idx="1" type="body"/>
          </p:nvPr>
        </p:nvSpPr>
        <p:spPr>
          <a:xfrm>
            <a:off x="641025" y="2210075"/>
            <a:ext cx="10332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Articles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1" name="Google Shape;51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7350" y="839425"/>
            <a:ext cx="1646276" cy="14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73"/>
          <p:cNvSpPr/>
          <p:nvPr/>
        </p:nvSpPr>
        <p:spPr>
          <a:xfrm>
            <a:off x="2139100" y="1229913"/>
            <a:ext cx="825900" cy="45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3"/>
          <p:cNvSpPr txBox="1"/>
          <p:nvPr>
            <p:ph idx="1" type="body"/>
          </p:nvPr>
        </p:nvSpPr>
        <p:spPr>
          <a:xfrm>
            <a:off x="3043888" y="2313550"/>
            <a:ext cx="10332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Raw text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4" name="Google Shape;51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126" y="839425"/>
            <a:ext cx="2679799" cy="1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3"/>
          <p:cNvSpPr/>
          <p:nvPr/>
        </p:nvSpPr>
        <p:spPr>
          <a:xfrm>
            <a:off x="4205050" y="1284088"/>
            <a:ext cx="825900" cy="45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73"/>
          <p:cNvSpPr txBox="1"/>
          <p:nvPr>
            <p:ph idx="1" type="body"/>
          </p:nvPr>
        </p:nvSpPr>
        <p:spPr>
          <a:xfrm>
            <a:off x="4814474" y="2405925"/>
            <a:ext cx="164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523"/>
              <a:buNone/>
            </a:pPr>
            <a:r>
              <a:rPr b="1" lang="en" sz="90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Generate Categories with Gemini (LLM) API</a:t>
            </a:r>
            <a:endParaRPr b="1" sz="907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17" name="Google Shape;517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2300" y="2639325"/>
            <a:ext cx="2679798" cy="15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73"/>
          <p:cNvSpPr/>
          <p:nvPr/>
        </p:nvSpPr>
        <p:spPr>
          <a:xfrm rot="2700000">
            <a:off x="6611278" y="2253417"/>
            <a:ext cx="826042" cy="45014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73"/>
          <p:cNvSpPr txBox="1"/>
          <p:nvPr>
            <p:ph idx="1" type="body"/>
          </p:nvPr>
        </p:nvSpPr>
        <p:spPr>
          <a:xfrm>
            <a:off x="7256874" y="4041475"/>
            <a:ext cx="1520400" cy="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Sort raw text into different categories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20" name="Google Shape;520;p73"/>
          <p:cNvCxnSpPr/>
          <p:nvPr/>
        </p:nvCxnSpPr>
        <p:spPr>
          <a:xfrm>
            <a:off x="4079663" y="2472938"/>
            <a:ext cx="2253900" cy="1177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73"/>
          <p:cNvSpPr/>
          <p:nvPr/>
        </p:nvSpPr>
        <p:spPr>
          <a:xfrm rot="10798944">
            <a:off x="5481477" y="3881545"/>
            <a:ext cx="976800" cy="45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4675" y="3650450"/>
            <a:ext cx="1956825" cy="13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73"/>
          <p:cNvSpPr txBox="1"/>
          <p:nvPr>
            <p:ph idx="1" type="body"/>
          </p:nvPr>
        </p:nvSpPr>
        <p:spPr>
          <a:xfrm>
            <a:off x="3553600" y="3390050"/>
            <a:ext cx="23196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n" sz="93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Quarter &amp; Topics mentioned</a:t>
            </a:r>
            <a:endParaRPr b="1" sz="935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4" name="Google Shape;524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377" y="3291310"/>
            <a:ext cx="1956824" cy="131761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73"/>
          <p:cNvSpPr/>
          <p:nvPr/>
        </p:nvSpPr>
        <p:spPr>
          <a:xfrm rot="10798940">
            <a:off x="2493760" y="3878220"/>
            <a:ext cx="972900" cy="45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3"/>
          <p:cNvSpPr txBox="1"/>
          <p:nvPr>
            <p:ph idx="1" type="body"/>
          </p:nvPr>
        </p:nvSpPr>
        <p:spPr>
          <a:xfrm>
            <a:off x="368500" y="3024188"/>
            <a:ext cx="23196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b="1" lang="en" sz="93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Visualization</a:t>
            </a:r>
            <a:endParaRPr b="1" sz="935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56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4"/>
          <p:cNvSpPr/>
          <p:nvPr/>
        </p:nvSpPr>
        <p:spPr>
          <a:xfrm>
            <a:off x="4071824" y="727260"/>
            <a:ext cx="2931024" cy="2266044"/>
          </a:xfrm>
          <a:custGeom>
            <a:rect b="b" l="l" r="r" t="t"/>
            <a:pathLst>
              <a:path extrusionOk="0" h="2443174" w="2894839">
                <a:moveTo>
                  <a:pt x="1784237" y="0"/>
                </a:moveTo>
                <a:cubicBezTo>
                  <a:pt x="1851535" y="0"/>
                  <a:pt x="1918851" y="17380"/>
                  <a:pt x="1979160" y="52140"/>
                </a:cubicBezTo>
                <a:lnTo>
                  <a:pt x="2699357" y="467883"/>
                </a:lnTo>
                <a:cubicBezTo>
                  <a:pt x="2819706" y="537402"/>
                  <a:pt x="2894162" y="666232"/>
                  <a:pt x="2894839" y="806075"/>
                </a:cubicBezTo>
                <a:lnTo>
                  <a:pt x="2894839" y="1637674"/>
                </a:lnTo>
                <a:cubicBezTo>
                  <a:pt x="2894839" y="1776943"/>
                  <a:pt x="2820653" y="1905773"/>
                  <a:pt x="2700034" y="1975292"/>
                </a:cubicBezTo>
                <a:lnTo>
                  <a:pt x="2544161" y="2065272"/>
                </a:lnTo>
                <a:lnTo>
                  <a:pt x="2465321" y="2062671"/>
                </a:lnTo>
                <a:cubicBezTo>
                  <a:pt x="2412575" y="2051028"/>
                  <a:pt x="2365097" y="2019861"/>
                  <a:pt x="2336682" y="1970256"/>
                </a:cubicBezTo>
                <a:cubicBezTo>
                  <a:pt x="2313765" y="1930150"/>
                  <a:pt x="2306263" y="1885559"/>
                  <a:pt x="2312223" y="1843078"/>
                </a:cubicBezTo>
                <a:cubicBezTo>
                  <a:pt x="2315306" y="1832788"/>
                  <a:pt x="2317464" y="1822234"/>
                  <a:pt x="2319006" y="1811416"/>
                </a:cubicBezTo>
                <a:cubicBezTo>
                  <a:pt x="2321780" y="1790835"/>
                  <a:pt x="2321472" y="1769727"/>
                  <a:pt x="2317773" y="1748750"/>
                </a:cubicBezTo>
                <a:cubicBezTo>
                  <a:pt x="2313765" y="1726323"/>
                  <a:pt x="2305954" y="1704291"/>
                  <a:pt x="2294239" y="1683578"/>
                </a:cubicBezTo>
                <a:cubicBezTo>
                  <a:pt x="2229393" y="1570912"/>
                  <a:pt x="2072056" y="1544527"/>
                  <a:pt x="1972783" y="1644396"/>
                </a:cubicBezTo>
                <a:cubicBezTo>
                  <a:pt x="1929929" y="1687536"/>
                  <a:pt x="1910095" y="1750597"/>
                  <a:pt x="1918419" y="1810492"/>
                </a:cubicBezTo>
                <a:cubicBezTo>
                  <a:pt x="1926538" y="1866561"/>
                  <a:pt x="1953257" y="1908778"/>
                  <a:pt x="1988609" y="1938593"/>
                </a:cubicBezTo>
                <a:cubicBezTo>
                  <a:pt x="2005052" y="1952578"/>
                  <a:pt x="2023344" y="1963660"/>
                  <a:pt x="2043179" y="1971443"/>
                </a:cubicBezTo>
                <a:cubicBezTo>
                  <a:pt x="2052530" y="1975137"/>
                  <a:pt x="2062088" y="1978304"/>
                  <a:pt x="2071748" y="1980810"/>
                </a:cubicBezTo>
                <a:cubicBezTo>
                  <a:pt x="2111416" y="1996905"/>
                  <a:pt x="2146871" y="2025797"/>
                  <a:pt x="2170096" y="2065507"/>
                </a:cubicBezTo>
                <a:cubicBezTo>
                  <a:pt x="2198511" y="2113925"/>
                  <a:pt x="2201389" y="2171082"/>
                  <a:pt x="2185023" y="2223127"/>
                </a:cubicBezTo>
                <a:lnTo>
                  <a:pt x="2147581" y="2294203"/>
                </a:lnTo>
                <a:lnTo>
                  <a:pt x="1979837" y="2391035"/>
                </a:lnTo>
                <a:cubicBezTo>
                  <a:pt x="1859488" y="2460554"/>
                  <a:pt x="1710846" y="2460554"/>
                  <a:pt x="1590091" y="2391035"/>
                </a:cubicBezTo>
                <a:lnTo>
                  <a:pt x="869894" y="1975292"/>
                </a:lnTo>
                <a:cubicBezTo>
                  <a:pt x="749275" y="1905428"/>
                  <a:pt x="675089" y="1776943"/>
                  <a:pt x="675089" y="1637674"/>
                </a:cubicBezTo>
                <a:lnTo>
                  <a:pt x="675089" y="1534312"/>
                </a:lnTo>
                <a:cubicBezTo>
                  <a:pt x="675089" y="1422002"/>
                  <a:pt x="583575" y="1316804"/>
                  <a:pt x="471214" y="1317722"/>
                </a:cubicBezTo>
                <a:cubicBezTo>
                  <a:pt x="425051" y="1318066"/>
                  <a:pt x="382543" y="1334242"/>
                  <a:pt x="348699" y="1360627"/>
                </a:cubicBezTo>
                <a:cubicBezTo>
                  <a:pt x="341524" y="1367740"/>
                  <a:pt x="334079" y="1374508"/>
                  <a:pt x="326362" y="1380818"/>
                </a:cubicBezTo>
                <a:cubicBezTo>
                  <a:pt x="309576" y="1393781"/>
                  <a:pt x="290623" y="1403991"/>
                  <a:pt x="270452" y="1411448"/>
                </a:cubicBezTo>
                <a:cubicBezTo>
                  <a:pt x="226997" y="1427050"/>
                  <a:pt x="176772" y="1429115"/>
                  <a:pt x="124382" y="1408121"/>
                </a:cubicBezTo>
                <a:cubicBezTo>
                  <a:pt x="68201" y="1385407"/>
                  <a:pt x="23528" y="1336651"/>
                  <a:pt x="7689" y="1278029"/>
                </a:cubicBezTo>
                <a:cubicBezTo>
                  <a:pt x="-29269" y="1142202"/>
                  <a:pt x="72127" y="1019338"/>
                  <a:pt x="202223" y="1019338"/>
                </a:cubicBezTo>
                <a:cubicBezTo>
                  <a:pt x="226049" y="1019338"/>
                  <a:pt x="249063" y="1023582"/>
                  <a:pt x="270452" y="1031383"/>
                </a:cubicBezTo>
                <a:cubicBezTo>
                  <a:pt x="290352" y="1038496"/>
                  <a:pt x="308899" y="1048706"/>
                  <a:pt x="325415" y="1061440"/>
                </a:cubicBezTo>
                <a:cubicBezTo>
                  <a:pt x="333808" y="1067979"/>
                  <a:pt x="341795" y="1075435"/>
                  <a:pt x="349241" y="1083236"/>
                </a:cubicBezTo>
                <a:cubicBezTo>
                  <a:pt x="383085" y="1109277"/>
                  <a:pt x="425322" y="1125109"/>
                  <a:pt x="471485" y="1125453"/>
                </a:cubicBezTo>
                <a:cubicBezTo>
                  <a:pt x="585741" y="1125682"/>
                  <a:pt x="674412" y="1023353"/>
                  <a:pt x="674412" y="908863"/>
                </a:cubicBezTo>
                <a:lnTo>
                  <a:pt x="674412" y="805501"/>
                </a:lnTo>
                <a:cubicBezTo>
                  <a:pt x="674412" y="666232"/>
                  <a:pt x="748598" y="537402"/>
                  <a:pt x="869353" y="467883"/>
                </a:cubicBezTo>
                <a:lnTo>
                  <a:pt x="1589414" y="52140"/>
                </a:lnTo>
                <a:cubicBezTo>
                  <a:pt x="1649657" y="17380"/>
                  <a:pt x="1716938" y="0"/>
                  <a:pt x="1784237" y="0"/>
                </a:cubicBezTo>
                <a:close/>
              </a:path>
            </a:pathLst>
          </a:custGeom>
          <a:solidFill>
            <a:srgbClr val="64D755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74"/>
          <p:cNvSpPr/>
          <p:nvPr/>
        </p:nvSpPr>
        <p:spPr>
          <a:xfrm>
            <a:off x="4592181" y="1414484"/>
            <a:ext cx="1890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Extract </a:t>
            </a: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Raw text</a:t>
            </a:r>
            <a:endParaRPr b="1" sz="5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4"/>
          <p:cNvSpPr/>
          <p:nvPr/>
        </p:nvSpPr>
        <p:spPr>
          <a:xfrm>
            <a:off x="5897191" y="2193003"/>
            <a:ext cx="2251530" cy="2588371"/>
          </a:xfrm>
          <a:custGeom>
            <a:rect b="b" l="l" r="r" t="t"/>
            <a:pathLst>
              <a:path extrusionOk="0" h="21181" w="21600">
                <a:moveTo>
                  <a:pt x="21597" y="15080"/>
                </a:moveTo>
                <a:lnTo>
                  <a:pt x="21600" y="8777"/>
                </a:lnTo>
                <a:cubicBezTo>
                  <a:pt x="21600" y="7721"/>
                  <a:pt x="20878" y="6745"/>
                  <a:pt x="19704" y="6218"/>
                </a:cubicBezTo>
                <a:lnTo>
                  <a:pt x="12699" y="3064"/>
                </a:lnTo>
                <a:cubicBezTo>
                  <a:pt x="11525" y="2535"/>
                  <a:pt x="10081" y="2535"/>
                  <a:pt x="8907" y="3062"/>
                </a:cubicBezTo>
                <a:lnTo>
                  <a:pt x="8037" y="3453"/>
                </a:lnTo>
                <a:cubicBezTo>
                  <a:pt x="7074" y="3885"/>
                  <a:pt x="5779" y="3692"/>
                  <a:pt x="5226" y="2940"/>
                </a:cubicBezTo>
                <a:cubicBezTo>
                  <a:pt x="5003" y="2636"/>
                  <a:pt x="4930" y="2298"/>
                  <a:pt x="4988" y="1976"/>
                </a:cubicBezTo>
                <a:cubicBezTo>
                  <a:pt x="5018" y="1898"/>
                  <a:pt x="5039" y="1818"/>
                  <a:pt x="5054" y="1736"/>
                </a:cubicBezTo>
                <a:cubicBezTo>
                  <a:pt x="5081" y="1580"/>
                  <a:pt x="5078" y="1420"/>
                  <a:pt x="5042" y="1261"/>
                </a:cubicBezTo>
                <a:cubicBezTo>
                  <a:pt x="5003" y="1091"/>
                  <a:pt x="4927" y="924"/>
                  <a:pt x="4813" y="767"/>
                </a:cubicBezTo>
                <a:cubicBezTo>
                  <a:pt x="4182" y="-87"/>
                  <a:pt x="2651" y="-287"/>
                  <a:pt x="1685" y="470"/>
                </a:cubicBezTo>
                <a:cubicBezTo>
                  <a:pt x="1268" y="797"/>
                  <a:pt x="1075" y="1275"/>
                  <a:pt x="1156" y="1729"/>
                </a:cubicBezTo>
                <a:cubicBezTo>
                  <a:pt x="1235" y="2154"/>
                  <a:pt x="1495" y="2474"/>
                  <a:pt x="1839" y="2700"/>
                </a:cubicBezTo>
                <a:cubicBezTo>
                  <a:pt x="1999" y="2806"/>
                  <a:pt x="2177" y="2890"/>
                  <a:pt x="2370" y="2949"/>
                </a:cubicBezTo>
                <a:cubicBezTo>
                  <a:pt x="2461" y="2977"/>
                  <a:pt x="2554" y="3001"/>
                  <a:pt x="2648" y="3020"/>
                </a:cubicBezTo>
                <a:cubicBezTo>
                  <a:pt x="3034" y="3142"/>
                  <a:pt x="3379" y="3361"/>
                  <a:pt x="3605" y="3662"/>
                </a:cubicBezTo>
                <a:cubicBezTo>
                  <a:pt x="4158" y="4396"/>
                  <a:pt x="3717" y="5395"/>
                  <a:pt x="2772" y="5819"/>
                </a:cubicBezTo>
                <a:lnTo>
                  <a:pt x="1902" y="6209"/>
                </a:lnTo>
                <a:cubicBezTo>
                  <a:pt x="728" y="6736"/>
                  <a:pt x="6" y="7712"/>
                  <a:pt x="3" y="8768"/>
                </a:cubicBezTo>
                <a:lnTo>
                  <a:pt x="0" y="15071"/>
                </a:lnTo>
                <a:cubicBezTo>
                  <a:pt x="0" y="16127"/>
                  <a:pt x="722" y="17103"/>
                  <a:pt x="1896" y="17630"/>
                </a:cubicBezTo>
                <a:lnTo>
                  <a:pt x="8901" y="20784"/>
                </a:lnTo>
                <a:cubicBezTo>
                  <a:pt x="10075" y="21313"/>
                  <a:pt x="11519" y="21313"/>
                  <a:pt x="12693" y="20786"/>
                </a:cubicBezTo>
                <a:lnTo>
                  <a:pt x="19704" y="17637"/>
                </a:lnTo>
                <a:cubicBezTo>
                  <a:pt x="20875" y="17110"/>
                  <a:pt x="21597" y="16134"/>
                  <a:pt x="21597" y="15080"/>
                </a:cubicBezTo>
                <a:close/>
              </a:path>
            </a:pathLst>
          </a:custGeom>
          <a:solidFill>
            <a:srgbClr val="969696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4"/>
          <p:cNvSpPr/>
          <p:nvPr/>
        </p:nvSpPr>
        <p:spPr>
          <a:xfrm>
            <a:off x="3631186" y="2509155"/>
            <a:ext cx="2936291" cy="2263072"/>
          </a:xfrm>
          <a:custGeom>
            <a:rect b="b" l="l" r="r" t="t"/>
            <a:pathLst>
              <a:path extrusionOk="0" h="21297" w="21384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rgbClr val="132566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74"/>
          <p:cNvSpPr/>
          <p:nvPr/>
        </p:nvSpPr>
        <p:spPr>
          <a:xfrm>
            <a:off x="1396650" y="2509155"/>
            <a:ext cx="2936291" cy="2263072"/>
          </a:xfrm>
          <a:custGeom>
            <a:rect b="b" l="l" r="r" t="t"/>
            <a:pathLst>
              <a:path extrusionOk="0" h="21297" w="21384">
                <a:moveTo>
                  <a:pt x="1444" y="4079"/>
                </a:moveTo>
                <a:lnTo>
                  <a:pt x="6764" y="455"/>
                </a:lnTo>
                <a:cubicBezTo>
                  <a:pt x="7655" y="-151"/>
                  <a:pt x="8753" y="-151"/>
                  <a:pt x="9643" y="455"/>
                </a:cubicBezTo>
                <a:lnTo>
                  <a:pt x="14962" y="4079"/>
                </a:lnTo>
                <a:cubicBezTo>
                  <a:pt x="15854" y="4685"/>
                  <a:pt x="16402" y="5808"/>
                  <a:pt x="16402" y="7022"/>
                </a:cubicBezTo>
                <a:lnTo>
                  <a:pt x="16402" y="7923"/>
                </a:lnTo>
                <a:cubicBezTo>
                  <a:pt x="16402" y="8921"/>
                  <a:pt x="17057" y="9813"/>
                  <a:pt x="17901" y="9811"/>
                </a:cubicBezTo>
                <a:cubicBezTo>
                  <a:pt x="18242" y="9808"/>
                  <a:pt x="18554" y="9670"/>
                  <a:pt x="18804" y="9443"/>
                </a:cubicBezTo>
                <a:cubicBezTo>
                  <a:pt x="18859" y="9375"/>
                  <a:pt x="18918" y="9310"/>
                  <a:pt x="18980" y="9253"/>
                </a:cubicBezTo>
                <a:cubicBezTo>
                  <a:pt x="19102" y="9142"/>
                  <a:pt x="19239" y="9053"/>
                  <a:pt x="19386" y="8991"/>
                </a:cubicBezTo>
                <a:cubicBezTo>
                  <a:pt x="19544" y="8923"/>
                  <a:pt x="19714" y="8886"/>
                  <a:pt x="19890" y="8886"/>
                </a:cubicBezTo>
                <a:cubicBezTo>
                  <a:pt x="20851" y="8886"/>
                  <a:pt x="21600" y="9957"/>
                  <a:pt x="21327" y="11141"/>
                </a:cubicBezTo>
                <a:cubicBezTo>
                  <a:pt x="21210" y="11652"/>
                  <a:pt x="20880" y="12077"/>
                  <a:pt x="20465" y="12275"/>
                </a:cubicBezTo>
                <a:cubicBezTo>
                  <a:pt x="20078" y="12458"/>
                  <a:pt x="19707" y="12440"/>
                  <a:pt x="19386" y="12304"/>
                </a:cubicBezTo>
                <a:cubicBezTo>
                  <a:pt x="19237" y="12239"/>
                  <a:pt x="19097" y="12150"/>
                  <a:pt x="18973" y="12037"/>
                </a:cubicBezTo>
                <a:cubicBezTo>
                  <a:pt x="18916" y="11982"/>
                  <a:pt x="18861" y="11923"/>
                  <a:pt x="18808" y="11861"/>
                </a:cubicBezTo>
                <a:cubicBezTo>
                  <a:pt x="18558" y="11631"/>
                  <a:pt x="18244" y="11490"/>
                  <a:pt x="17903" y="11487"/>
                </a:cubicBezTo>
                <a:cubicBezTo>
                  <a:pt x="17073" y="11479"/>
                  <a:pt x="16397" y="12396"/>
                  <a:pt x="16397" y="13375"/>
                </a:cubicBezTo>
                <a:lnTo>
                  <a:pt x="16397" y="14276"/>
                </a:lnTo>
                <a:cubicBezTo>
                  <a:pt x="16397" y="15490"/>
                  <a:pt x="15849" y="16610"/>
                  <a:pt x="14958" y="17219"/>
                </a:cubicBezTo>
                <a:lnTo>
                  <a:pt x="9638" y="20843"/>
                </a:lnTo>
                <a:cubicBezTo>
                  <a:pt x="8746" y="21449"/>
                  <a:pt x="7648" y="21449"/>
                  <a:pt x="6759" y="20843"/>
                </a:cubicBezTo>
                <a:lnTo>
                  <a:pt x="1439" y="17219"/>
                </a:lnTo>
                <a:cubicBezTo>
                  <a:pt x="548" y="16613"/>
                  <a:pt x="0" y="15490"/>
                  <a:pt x="0" y="14276"/>
                </a:cubicBezTo>
                <a:lnTo>
                  <a:pt x="0" y="7027"/>
                </a:lnTo>
                <a:cubicBezTo>
                  <a:pt x="5" y="5808"/>
                  <a:pt x="555" y="4688"/>
                  <a:pt x="1444" y="4079"/>
                </a:cubicBezTo>
                <a:close/>
              </a:path>
            </a:pathLst>
          </a:custGeom>
          <a:solidFill>
            <a:srgbClr val="595959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74"/>
          <p:cNvSpPr txBox="1"/>
          <p:nvPr>
            <p:ph type="title"/>
          </p:nvPr>
        </p:nvSpPr>
        <p:spPr>
          <a:xfrm>
            <a:off x="226550" y="19651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Media Text Categorization</a:t>
            </a:r>
            <a:endParaRPr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8" name="Google Shape;538;p74"/>
          <p:cNvSpPr/>
          <p:nvPr/>
        </p:nvSpPr>
        <p:spPr>
          <a:xfrm>
            <a:off x="4233042" y="2832138"/>
            <a:ext cx="1386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Sort raw text into different categories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74"/>
          <p:cNvSpPr/>
          <p:nvPr/>
        </p:nvSpPr>
        <p:spPr>
          <a:xfrm>
            <a:off x="1652833" y="3286875"/>
            <a:ext cx="20655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1"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23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Visualization (Dashboard)</a:t>
            </a:r>
            <a:endParaRPr b="1" sz="1235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74"/>
          <p:cNvSpPr/>
          <p:nvPr/>
        </p:nvSpPr>
        <p:spPr>
          <a:xfrm>
            <a:off x="6567467" y="2993299"/>
            <a:ext cx="1473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207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Generate Categories with Gemini (LLM) API</a:t>
            </a:r>
            <a:endParaRPr b="1" sz="1207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b="1" sz="12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74"/>
          <p:cNvSpPr/>
          <p:nvPr/>
        </p:nvSpPr>
        <p:spPr>
          <a:xfrm>
            <a:off x="2498182" y="727250"/>
            <a:ext cx="2248145" cy="2591754"/>
          </a:xfrm>
          <a:custGeom>
            <a:rect b="b" l="l" r="r" t="t"/>
            <a:pathLst>
              <a:path extrusionOk="0" h="2794344" w="2220390">
                <a:moveTo>
                  <a:pt x="1111236" y="1"/>
                </a:moveTo>
                <a:cubicBezTo>
                  <a:pt x="1178529" y="50"/>
                  <a:pt x="1245783" y="17518"/>
                  <a:pt x="1306021" y="52455"/>
                </a:cubicBezTo>
                <a:lnTo>
                  <a:pt x="2025798" y="468430"/>
                </a:lnTo>
                <a:cubicBezTo>
                  <a:pt x="2146274" y="538042"/>
                  <a:pt x="2220390" y="666687"/>
                  <a:pt x="2220390" y="806042"/>
                </a:cubicBezTo>
                <a:lnTo>
                  <a:pt x="2220292" y="938113"/>
                </a:lnTo>
                <a:lnTo>
                  <a:pt x="2210217" y="991049"/>
                </a:lnTo>
                <a:cubicBezTo>
                  <a:pt x="2179923" y="1068118"/>
                  <a:pt x="2108622" y="1125636"/>
                  <a:pt x="2022930" y="1125464"/>
                </a:cubicBezTo>
                <a:cubicBezTo>
                  <a:pt x="1976767" y="1125120"/>
                  <a:pt x="1934530" y="1109288"/>
                  <a:pt x="1900686" y="1083247"/>
                </a:cubicBezTo>
                <a:cubicBezTo>
                  <a:pt x="1893240" y="1075446"/>
                  <a:pt x="1885253" y="1067990"/>
                  <a:pt x="1876860" y="1061451"/>
                </a:cubicBezTo>
                <a:cubicBezTo>
                  <a:pt x="1860344" y="1048717"/>
                  <a:pt x="1841797" y="1038507"/>
                  <a:pt x="1821897" y="1031394"/>
                </a:cubicBezTo>
                <a:cubicBezTo>
                  <a:pt x="1800508" y="1023593"/>
                  <a:pt x="1777494" y="1019349"/>
                  <a:pt x="1753668" y="1019349"/>
                </a:cubicBezTo>
                <a:cubicBezTo>
                  <a:pt x="1623572" y="1019349"/>
                  <a:pt x="1522176" y="1142213"/>
                  <a:pt x="1559134" y="1278040"/>
                </a:cubicBezTo>
                <a:cubicBezTo>
                  <a:pt x="1574973" y="1336662"/>
                  <a:pt x="1619646" y="1385418"/>
                  <a:pt x="1675827" y="1408132"/>
                </a:cubicBezTo>
                <a:cubicBezTo>
                  <a:pt x="1728217" y="1429126"/>
                  <a:pt x="1778442" y="1427061"/>
                  <a:pt x="1821897" y="1411459"/>
                </a:cubicBezTo>
                <a:cubicBezTo>
                  <a:pt x="1842068" y="1404002"/>
                  <a:pt x="1861021" y="1393792"/>
                  <a:pt x="1877807" y="1380829"/>
                </a:cubicBezTo>
                <a:cubicBezTo>
                  <a:pt x="1885524" y="1374519"/>
                  <a:pt x="1892969" y="1367751"/>
                  <a:pt x="1900144" y="1360638"/>
                </a:cubicBezTo>
                <a:cubicBezTo>
                  <a:pt x="1933988" y="1334253"/>
                  <a:pt x="1976496" y="1318077"/>
                  <a:pt x="2022659" y="1317733"/>
                </a:cubicBezTo>
                <a:cubicBezTo>
                  <a:pt x="2106930" y="1317045"/>
                  <a:pt x="2179474" y="1376046"/>
                  <a:pt x="2210480" y="1452971"/>
                </a:cubicBezTo>
                <a:lnTo>
                  <a:pt x="2219875" y="1500579"/>
                </a:lnTo>
                <a:lnTo>
                  <a:pt x="2219773" y="1637600"/>
                </a:lnTo>
                <a:cubicBezTo>
                  <a:pt x="2219465" y="1776955"/>
                  <a:pt x="2145349" y="1905730"/>
                  <a:pt x="2024564" y="1975212"/>
                </a:cubicBezTo>
                <a:lnTo>
                  <a:pt x="1304171" y="2390664"/>
                </a:lnTo>
                <a:cubicBezTo>
                  <a:pt x="1183386" y="2460146"/>
                  <a:pt x="1035154" y="2460146"/>
                  <a:pt x="914369" y="2390403"/>
                </a:cubicBezTo>
                <a:lnTo>
                  <a:pt x="825040" y="2338814"/>
                </a:lnTo>
                <a:cubicBezTo>
                  <a:pt x="751952" y="2296694"/>
                  <a:pt x="656891" y="2301004"/>
                  <a:pt x="590511" y="2347006"/>
                </a:cubicBezTo>
                <a:lnTo>
                  <a:pt x="565573" y="2368589"/>
                </a:lnTo>
                <a:lnTo>
                  <a:pt x="544151" y="2397822"/>
                </a:lnTo>
                <a:cubicBezTo>
                  <a:pt x="521519" y="2437870"/>
                  <a:pt x="514079" y="2482851"/>
                  <a:pt x="519962" y="2525347"/>
                </a:cubicBezTo>
                <a:cubicBezTo>
                  <a:pt x="522765" y="2534999"/>
                  <a:pt x="524910" y="2544903"/>
                  <a:pt x="526156" y="2554843"/>
                </a:cubicBezTo>
                <a:cubicBezTo>
                  <a:pt x="529270" y="2575623"/>
                  <a:pt x="528648" y="2597339"/>
                  <a:pt x="524910" y="2618443"/>
                </a:cubicBezTo>
                <a:cubicBezTo>
                  <a:pt x="518863" y="2652665"/>
                  <a:pt x="504270" y="2686178"/>
                  <a:pt x="478505" y="2715458"/>
                </a:cubicBezTo>
                <a:lnTo>
                  <a:pt x="471922" y="2721628"/>
                </a:lnTo>
                <a:lnTo>
                  <a:pt x="469883" y="2724442"/>
                </a:lnTo>
                <a:cubicBezTo>
                  <a:pt x="461290" y="2734202"/>
                  <a:pt x="451454" y="2743492"/>
                  <a:pt x="440275" y="2752177"/>
                </a:cubicBezTo>
                <a:cubicBezTo>
                  <a:pt x="392475" y="2789660"/>
                  <a:pt x="328022" y="2803635"/>
                  <a:pt x="269325" y="2788093"/>
                </a:cubicBezTo>
                <a:cubicBezTo>
                  <a:pt x="133121" y="2752177"/>
                  <a:pt x="77611" y="2602896"/>
                  <a:pt x="142681" y="2490315"/>
                </a:cubicBezTo>
                <a:cubicBezTo>
                  <a:pt x="154811" y="2469419"/>
                  <a:pt x="170024" y="2451787"/>
                  <a:pt x="187397" y="2437159"/>
                </a:cubicBezTo>
                <a:lnTo>
                  <a:pt x="189709" y="2435750"/>
                </a:lnTo>
                <a:lnTo>
                  <a:pt x="196022" y="2428254"/>
                </a:lnTo>
                <a:cubicBezTo>
                  <a:pt x="212148" y="2414605"/>
                  <a:pt x="230143" y="2403405"/>
                  <a:pt x="249383" y="2395662"/>
                </a:cubicBezTo>
                <a:cubicBezTo>
                  <a:pt x="259315" y="2391628"/>
                  <a:pt x="269558" y="2388207"/>
                  <a:pt x="280113" y="2385722"/>
                </a:cubicBezTo>
                <a:lnTo>
                  <a:pt x="333469" y="2353240"/>
                </a:lnTo>
                <a:lnTo>
                  <a:pt x="369551" y="2309951"/>
                </a:lnTo>
                <a:cubicBezTo>
                  <a:pt x="427220" y="2210953"/>
                  <a:pt x="382915" y="2083222"/>
                  <a:pt x="283922" y="2025756"/>
                </a:cubicBezTo>
                <a:lnTo>
                  <a:pt x="194593" y="1974298"/>
                </a:lnTo>
                <a:cubicBezTo>
                  <a:pt x="74116" y="1904816"/>
                  <a:pt x="0" y="1776040"/>
                  <a:pt x="0" y="1636686"/>
                </a:cubicBezTo>
                <a:lnTo>
                  <a:pt x="617" y="805128"/>
                </a:lnTo>
                <a:cubicBezTo>
                  <a:pt x="925" y="665773"/>
                  <a:pt x="75041" y="536997"/>
                  <a:pt x="195826" y="467516"/>
                </a:cubicBezTo>
                <a:lnTo>
                  <a:pt x="916219" y="52063"/>
                </a:lnTo>
                <a:cubicBezTo>
                  <a:pt x="976612" y="17322"/>
                  <a:pt x="1043943" y="-48"/>
                  <a:pt x="1111236" y="1"/>
                </a:cubicBezTo>
                <a:close/>
              </a:path>
            </a:pathLst>
          </a:custGeom>
          <a:solidFill>
            <a:srgbClr val="323A45"/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74"/>
          <p:cNvSpPr/>
          <p:nvPr/>
        </p:nvSpPr>
        <p:spPr>
          <a:xfrm>
            <a:off x="2610650" y="1161875"/>
            <a:ext cx="16224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Find </a:t>
            </a: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Article Sources</a:t>
            </a:r>
            <a:endParaRPr b="1" sz="452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74"/>
          <p:cNvPicPr preferRelativeResize="0"/>
          <p:nvPr/>
        </p:nvPicPr>
        <p:blipFill rotWithShape="1">
          <a:blip r:embed="rId3">
            <a:alphaModFix/>
          </a:blip>
          <a:srcRect b="0" l="3510" r="-3509" t="0"/>
          <a:stretch/>
        </p:blipFill>
        <p:spPr>
          <a:xfrm>
            <a:off x="653125" y="1089404"/>
            <a:ext cx="2058801" cy="128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175" y="831375"/>
            <a:ext cx="1501801" cy="12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5650" y="3954563"/>
            <a:ext cx="1851627" cy="10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0800" y="3946904"/>
            <a:ext cx="1622400" cy="1081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200" y="3450534"/>
            <a:ext cx="1622402" cy="1092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D755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553" name="Google Shape;553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solutions will solve IWERC’s internal tracking 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83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Our Solution </a:t>
            </a:r>
            <a:r>
              <a:rPr lang="en" sz="2300">
                <a:solidFill>
                  <a:schemeClr val="dk1"/>
                </a:solidFill>
              </a:rPr>
              <a:t>introduces a manual entry form for stakeholders to input publications and presentation details, ensuring accurate data capture and correct formatting</a:t>
            </a:r>
            <a:endParaRPr sz="2300">
              <a:solidFill>
                <a:schemeClr val="dk1"/>
              </a:solidFill>
            </a:endParaRPr>
          </a:p>
          <a:p>
            <a:pPr indent="-33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The tool will use APIs to automatically gather data from various sources, significantly reducing manual data entry and improving efficiency for media mentions</a:t>
            </a:r>
            <a:endParaRPr sz="2300">
              <a:solidFill>
                <a:schemeClr val="dk1"/>
              </a:solidFill>
            </a:endParaRPr>
          </a:p>
          <a:p>
            <a:pPr indent="-33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The solutions will address manual data entry issues for social media metrics and provide more accurate forecasting and impact analysis of IWERC's social media presence</a:t>
            </a:r>
            <a:endParaRPr sz="2300">
              <a:solidFill>
                <a:schemeClr val="dk1"/>
              </a:solidFill>
            </a:endParaRPr>
          </a:p>
          <a:p>
            <a:pPr indent="-3308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300">
                <a:solidFill>
                  <a:schemeClr val="dk1"/>
                </a:solidFill>
              </a:rPr>
              <a:t>The solution will integrate this data into interactive dashboards, providing a comprehensive view of IWERC's academic output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4D755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559" name="Google Shape;559;p76"/>
          <p:cNvSpPr/>
          <p:nvPr/>
        </p:nvSpPr>
        <p:spPr>
          <a:xfrm>
            <a:off x="978400" y="1449350"/>
            <a:ext cx="6844500" cy="6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 introduces a manual entry form for stakeholders to input publications and presentation details, ensuring accurate data capture and correct formatting</a:t>
            </a:r>
            <a:endParaRPr/>
          </a:p>
        </p:txBody>
      </p:sp>
      <p:cxnSp>
        <p:nvCxnSpPr>
          <p:cNvPr id="560" name="Google Shape;560;p76"/>
          <p:cNvCxnSpPr>
            <a:stCxn id="559" idx="2"/>
          </p:cNvCxnSpPr>
          <p:nvPr/>
        </p:nvCxnSpPr>
        <p:spPr>
          <a:xfrm flipH="1">
            <a:off x="4397350" y="2148950"/>
            <a:ext cx="3300" cy="35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76"/>
          <p:cNvSpPr/>
          <p:nvPr/>
        </p:nvSpPr>
        <p:spPr>
          <a:xfrm>
            <a:off x="976750" y="2319338"/>
            <a:ext cx="6844500" cy="6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tool will use APIs to automatically gather data from various sources, significantly reducing manual data entry and improving efficiency for media mentions</a:t>
            </a:r>
            <a:endParaRPr/>
          </a:p>
        </p:txBody>
      </p:sp>
      <p:sp>
        <p:nvSpPr>
          <p:cNvPr id="562" name="Google Shape;562;p76"/>
          <p:cNvSpPr/>
          <p:nvPr/>
        </p:nvSpPr>
        <p:spPr>
          <a:xfrm>
            <a:off x="976750" y="3169450"/>
            <a:ext cx="6844500" cy="6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solutions will address manual data entry issues for social media metrics and provide more accurate forecasting and impact analysis of IWERC's social media presence</a:t>
            </a:r>
            <a:endParaRPr/>
          </a:p>
        </p:txBody>
      </p:sp>
      <p:sp>
        <p:nvSpPr>
          <p:cNvPr id="563" name="Google Shape;563;p76"/>
          <p:cNvSpPr/>
          <p:nvPr/>
        </p:nvSpPr>
        <p:spPr>
          <a:xfrm>
            <a:off x="976000" y="4046650"/>
            <a:ext cx="6844500" cy="6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will integrate this data into interactive dashboards, providing a comprehensive view of IWERC's academic output</a:t>
            </a:r>
            <a:endParaRPr/>
          </a:p>
        </p:txBody>
      </p:sp>
      <p:cxnSp>
        <p:nvCxnSpPr>
          <p:cNvPr id="564" name="Google Shape;564;p76"/>
          <p:cNvCxnSpPr>
            <a:stCxn id="561" idx="2"/>
            <a:endCxn id="562" idx="0"/>
          </p:cNvCxnSpPr>
          <p:nvPr/>
        </p:nvCxnSpPr>
        <p:spPr>
          <a:xfrm>
            <a:off x="4399000" y="3018938"/>
            <a:ext cx="0" cy="1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76"/>
          <p:cNvCxnSpPr>
            <a:stCxn id="562" idx="2"/>
          </p:cNvCxnSpPr>
          <p:nvPr/>
        </p:nvCxnSpPr>
        <p:spPr>
          <a:xfrm flipH="1">
            <a:off x="4397500" y="3869050"/>
            <a:ext cx="1500" cy="17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71" name="Google Shape;571;p7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Do you have any questions?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72" name="Google Shape;57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4572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